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TOÀN CẢNH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CƠ CHẾ VÒNG XOAY SƯ PHẠM 5 PHA SOCRATIC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38BDF8"/>
                </a:solidFill>
              </a:rPr>
              <a:t>Tuyệt đối KHÔNG giải bài hộ — Dẫn dắt học sinh tự chiếm lĩnh tri thức KHTN qua chu trình khép kín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011680" cy="2286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PHA 01
</a:t>
            </a:r>
            <a:r>
              <a:rPr sz="1800" b="1">
                <a:solidFill>
                  <a:srgbClr val="F8FAFC"/>
                </a:solidFill>
              </a:rPr>
              <a:t>LÀM RÕ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94A3B8"/>
                </a:solidFill>
              </a:rPr>
              <a:t>(CLARIFY)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F8FAFC"/>
                </a:solidFill>
              </a:rPr>
              <a:t>Buộc học sinh tự bóc tách dữ kiện đề bài đã cho và xác định rõ đại lượng cần tìm.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474720"/>
            <a:ext cx="2011680" cy="2286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200" b="1">
                <a:solidFill>
                  <a:srgbClr val="FBBF24"/>
                </a:solidFill>
              </a:rPr>
              <a:t>PHA 02
</a:t>
            </a:r>
            <a:r>
              <a:rPr sz="1800" b="1">
                <a:solidFill>
                  <a:srgbClr val="F8FAFC"/>
                </a:solidFill>
              </a:rPr>
              <a:t>GỢI NHỚ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94A3B8"/>
                </a:solidFill>
              </a:rPr>
              <a:t>(RECALL)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F8FAFC"/>
                </a:solidFill>
              </a:rPr>
              <a:t>Gợi mở để học sinh tự hồi tưởng lại định nghĩa, định luật và công thức SGK KHTN 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474720"/>
            <a:ext cx="2011680" cy="2286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200" b="1">
                <a:solidFill>
                  <a:srgbClr val="4ADE80"/>
                </a:solidFill>
              </a:rPr>
              <a:t>PHA 03
</a:t>
            </a:r>
            <a:r>
              <a:rPr sz="1800" b="1">
                <a:solidFill>
                  <a:srgbClr val="F8FAFC"/>
                </a:solidFill>
              </a:rPr>
              <a:t>LẬP LUẬN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94A3B8"/>
                </a:solidFill>
              </a:rPr>
              <a:t>(REASON)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F8FAFC"/>
                </a:solidFill>
              </a:rPr>
              <a:t>Hướng dẫn học sinh nhận diện các bẫy đổi đơn vị (km/h sang m/s) và thiết lập phép tính.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3474720"/>
            <a:ext cx="2011680" cy="2286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200" b="1">
                <a:solidFill>
                  <a:srgbClr val="A855F7"/>
                </a:solidFill>
              </a:rPr>
              <a:t>PHA 04
</a:t>
            </a:r>
            <a:r>
              <a:rPr sz="1800" b="1">
                <a:solidFill>
                  <a:srgbClr val="F8FAFC"/>
                </a:solidFill>
              </a:rPr>
              <a:t>KIỂM TRA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94A3B8"/>
                </a:solidFill>
              </a:rPr>
              <a:t>(CHECK)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F8FAFC"/>
                </a:solidFill>
              </a:rPr>
              <a:t>Yêu cầu học sinh tự phản biện và đối chiếu kết quả với thực tế đời sống khoa học.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3474720"/>
            <a:ext cx="2011680" cy="2286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200" b="1">
                <a:solidFill>
                  <a:srgbClr val="FB923C"/>
                </a:solidFill>
              </a:rPr>
              <a:t>PHA 05
</a:t>
            </a:r>
            <a:r>
              <a:rPr sz="1800" b="1">
                <a:solidFill>
                  <a:srgbClr val="F8FAFC"/>
                </a:solidFill>
              </a:rPr>
              <a:t>TỰ ĐÚC KẾT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94A3B8"/>
                </a:solidFill>
              </a:rPr>
              <a:t>(GENERALIZE)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F8FAFC"/>
                </a:solidFill>
              </a:rPr>
              <a:t>Học sinh tự tay đúc kết quy tắc bài học để mở khóa Cây Trí Tuệ 3 Nhánh và Sổ Tay Tự Học.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👉 BẤM PHÍM SPACEBAR HOẶC MŨI TÊN PHẢI ➡ ĐỂ BẮT ĐẦU HIỆU ỨNG VÒNG XOAY MORPH TỪ PHA 1 ĐẾN PHA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PHA 1 / 5: BÓC TÁCH DỮ KIỆN KHTN</a:t>
            </a:r>
          </a:p>
        </p:txBody>
      </p:sp>
      <p:sp>
        <p:nvSpPr>
          <p:cNvPr id="4" name="!!track_ring"/>
          <p:cNvSpPr/>
          <p:nvPr/>
        </p:nvSpPr>
        <p:spPr>
          <a:xfrm>
            <a:off x="1325880" y="1645920"/>
            <a:ext cx="3931920" cy="3931920"/>
          </a:xfrm>
          <a:prstGeom prst="ellipse">
            <a:avLst/>
          </a:prstGeom>
          <a:noFill/>
          <a:ln w="1905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inner_ring"/>
          <p:cNvSpPr/>
          <p:nvPr/>
        </p:nvSpPr>
        <p:spPr>
          <a:xfrm>
            <a:off x="1876348" y="2196388"/>
            <a:ext cx="2830982" cy="2830982"/>
          </a:xfrm>
          <a:prstGeom prst="ellipse">
            <a:avLst/>
          </a:prstGeom>
          <a:noFill/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enter_hub"/>
          <p:cNvSpPr/>
          <p:nvPr/>
        </p:nvSpPr>
        <p:spPr>
          <a:xfrm>
            <a:off x="2560320" y="2880360"/>
            <a:ext cx="1463040" cy="1463040"/>
          </a:xfrm>
          <a:prstGeom prst="ellipse">
            <a:avLst/>
          </a:prstGeom>
          <a:solidFill>
            <a:srgbClr val="141B2D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🧠 AI
</a:t>
            </a:r>
            <a:r>
              <a:rPr sz="1100" b="1">
                <a:solidFill>
                  <a:srgbClr val="F8FAFC"/>
                </a:solidFill>
              </a:rPr>
              <a:t>SOCRATES</a:t>
            </a:r>
          </a:p>
        </p:txBody>
      </p:sp>
      <p:sp>
        <p:nvSpPr>
          <p:cNvPr id="7" name="!!satellite_node_0"/>
          <p:cNvSpPr/>
          <p:nvPr/>
        </p:nvSpPr>
        <p:spPr>
          <a:xfrm>
            <a:off x="4526280" y="3177540"/>
            <a:ext cx="1463040" cy="868680"/>
          </a:xfrm>
          <a:prstGeom prst="roundRect">
            <a:avLst/>
          </a:prstGeom>
          <a:solidFill>
            <a:srgbClr val="38BDF8"/>
          </a:solidFill>
          <a:ln w="317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0F1D"/>
                </a:solidFill>
              </a:rPr>
              <a:t>Pha 01
</a:t>
            </a:r>
            <a:r>
              <a:rPr sz="1300" b="1">
                <a:solidFill>
                  <a:srgbClr val="0B0F1D"/>
                </a:solidFill>
              </a:rPr>
              <a:t>LÀM RÕ</a:t>
            </a:r>
          </a:p>
        </p:txBody>
      </p:sp>
      <p:sp>
        <p:nvSpPr>
          <p:cNvPr id="8" name="!!satellite_node_1"/>
          <p:cNvSpPr/>
          <p:nvPr/>
        </p:nvSpPr>
        <p:spPr>
          <a:xfrm>
            <a:off x="3304995" y="5138719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02
</a:t>
            </a:r>
            <a:r>
              <a:rPr sz="1100" b="1">
                <a:solidFill>
                  <a:srgbClr val="94A3B8"/>
                </a:solidFill>
              </a:rPr>
              <a:t>GỢI NHỚ</a:t>
            </a:r>
          </a:p>
        </p:txBody>
      </p:sp>
      <p:sp>
        <p:nvSpPr>
          <p:cNvPr id="9" name="!!satellite_node_2"/>
          <p:cNvSpPr/>
          <p:nvPr/>
        </p:nvSpPr>
        <p:spPr>
          <a:xfrm>
            <a:off x="1106984" y="4424542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03
</a:t>
            </a:r>
            <a:r>
              <a:rPr sz="1100" b="1">
                <a:solidFill>
                  <a:srgbClr val="94A3B8"/>
                </a:solidFill>
              </a:rPr>
              <a:t>LẬP LUẬN</a:t>
            </a:r>
          </a:p>
        </p:txBody>
      </p:sp>
      <p:sp>
        <p:nvSpPr>
          <p:cNvPr id="10" name="!!satellite_node_3"/>
          <p:cNvSpPr/>
          <p:nvPr/>
        </p:nvSpPr>
        <p:spPr>
          <a:xfrm>
            <a:off x="1106984" y="2113417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04
</a:t>
            </a:r>
            <a:r>
              <a:rPr sz="1100" b="1">
                <a:solidFill>
                  <a:srgbClr val="94A3B8"/>
                </a:solidFill>
              </a:rPr>
              <a:t>KIỂM TRA</a:t>
            </a:r>
          </a:p>
        </p:txBody>
      </p:sp>
      <p:sp>
        <p:nvSpPr>
          <p:cNvPr id="11" name="!!satellite_node_4"/>
          <p:cNvSpPr/>
          <p:nvPr/>
        </p:nvSpPr>
        <p:spPr>
          <a:xfrm>
            <a:off x="3304995" y="1399240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05
</a:t>
            </a:r>
            <a:r>
              <a:rPr sz="1100" b="1">
                <a:solidFill>
                  <a:srgbClr val="94A3B8"/>
                </a:solidFill>
              </a:rPr>
              <a:t>TỰ ĐÚC KẾT</a:t>
            </a:r>
          </a:p>
        </p:txBody>
      </p:sp>
      <p:sp>
        <p:nvSpPr>
          <p:cNvPr id="12" name="!!connector"/>
          <p:cNvSpPr/>
          <p:nvPr/>
        </p:nvSpPr>
        <p:spPr>
          <a:xfrm>
            <a:off x="6080760" y="3447288"/>
            <a:ext cx="594360" cy="32918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etail_card"/>
          <p:cNvSpPr/>
          <p:nvPr/>
        </p:nvSpPr>
        <p:spPr>
          <a:xfrm>
            <a:off x="5486400" y="1051560"/>
            <a:ext cx="5943600" cy="53035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/>
            <a:r>
              <a:rPr sz="2200" b="1">
                <a:solidFill>
                  <a:srgbClr val="38BDF8"/>
                </a:solidFill>
              </a:rPr>
              <a:t>PHA 01: LÀM RÕ </a:t>
            </a:r>
            <a:r>
              <a:rPr sz="1400">
                <a:solidFill>
                  <a:srgbClr val="94A3B8"/>
                </a:solidFill>
              </a:rPr>
              <a:t>(CLARIFY)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F8FAFC"/>
                </a:solidFill>
              </a:rPr>
              <a:t>🎯 Mục tiêu sư phạm: Buộc học sinh tự bóc tách dữ kiện đề bài đã cho và xác định rõ đại lượng cần tìm.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283553"/>
                </a:solidFill>
              </a:rPr>
              <a:t>────────────────────────────────────────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38BDF8"/>
                </a:solidFill>
              </a:rPr>
              <a:t>🤖 LỜI THOẠI GỢI MỞ CỦA SOCRATES NHÍ:
</a:t>
            </a:r>
            <a:r>
              <a:rPr sz="1200">
                <a:solidFill>
                  <a:srgbClr val="F8FAFC"/>
                </a:solidFill>
              </a:rPr>
              <a:t>Prompt Socratic: "Đề bài cho biết ô tô đi trong bao lâu và với vận tốc bao nhiêu nè em?"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FBBF24"/>
                </a:solidFill>
              </a:rPr>
              <a:t>🛡️ PHẢN ỨNG HỌC SINH &amp; KHIÊN GUARDRAIL:
</a:t>
            </a:r>
            <a:r>
              <a:rPr sz="1150">
                <a:solidFill>
                  <a:srgbClr val="F8FAFC"/>
                </a:solidFill>
              </a:rPr>
              <a:t>• Tình huống: Học sinh nài ép: "Thầy cho em xin đáp số luôn đi!"
• Xử lý: Khiên Guardrail 3 Tầng: Chặn đứng 100%, từ chối lịch sự và gợi ý học sinh tìm t và v.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4ADE80"/>
                </a:solidFill>
              </a:rPr>
              <a:t>📊 KẾT QUẢ ĐẠT ĐƯỢC:
</a:t>
            </a:r>
            <a:r>
              <a:rPr sz="1200" b="1">
                <a:solidFill>
                  <a:srgbClr val="F8FAFC"/>
                </a:solidFill>
              </a:rPr>
              <a:t>✔ 100% học sinh tự xác định đúng dữ kiện s, t mà không phụ thuộc giải hộ.</a:t>
            </a:r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PHA 2 / 5: KHƠI DẬY KHÁI NIỆM &amp; CÔNG THỨC SGK</a:t>
            </a:r>
          </a:p>
        </p:txBody>
      </p:sp>
      <p:sp>
        <p:nvSpPr>
          <p:cNvPr id="4" name="!!track_ring"/>
          <p:cNvSpPr/>
          <p:nvPr/>
        </p:nvSpPr>
        <p:spPr>
          <a:xfrm>
            <a:off x="1325880" y="1645920"/>
            <a:ext cx="3931920" cy="3931920"/>
          </a:xfrm>
          <a:prstGeom prst="ellipse">
            <a:avLst/>
          </a:prstGeom>
          <a:noFill/>
          <a:ln w="1905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inner_ring"/>
          <p:cNvSpPr/>
          <p:nvPr/>
        </p:nvSpPr>
        <p:spPr>
          <a:xfrm>
            <a:off x="1876348" y="2196388"/>
            <a:ext cx="2830982" cy="2830982"/>
          </a:xfrm>
          <a:prstGeom prst="ellipse">
            <a:avLst/>
          </a:prstGeom>
          <a:noFill/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enter_hub"/>
          <p:cNvSpPr/>
          <p:nvPr/>
        </p:nvSpPr>
        <p:spPr>
          <a:xfrm>
            <a:off x="2560320" y="2880360"/>
            <a:ext cx="1463040" cy="1463040"/>
          </a:xfrm>
          <a:prstGeom prst="ellipse">
            <a:avLst/>
          </a:prstGeom>
          <a:solidFill>
            <a:srgbClr val="141B2D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🧠 AI
</a:t>
            </a:r>
            <a:r>
              <a:rPr sz="1100" b="1">
                <a:solidFill>
                  <a:srgbClr val="F8FAFC"/>
                </a:solidFill>
              </a:rPr>
              <a:t>SOCRATES</a:t>
            </a:r>
          </a:p>
        </p:txBody>
      </p:sp>
      <p:sp>
        <p:nvSpPr>
          <p:cNvPr id="7" name="!!satellite_node_0"/>
          <p:cNvSpPr/>
          <p:nvPr/>
        </p:nvSpPr>
        <p:spPr>
          <a:xfrm>
            <a:off x="3304995" y="1399240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01
</a:t>
            </a:r>
            <a:r>
              <a:rPr sz="1100" b="1">
                <a:solidFill>
                  <a:srgbClr val="94A3B8"/>
                </a:solidFill>
              </a:rPr>
              <a:t>LÀM RÕ</a:t>
            </a:r>
          </a:p>
        </p:txBody>
      </p:sp>
      <p:sp>
        <p:nvSpPr>
          <p:cNvPr id="8" name="!!satellite_node_1"/>
          <p:cNvSpPr/>
          <p:nvPr/>
        </p:nvSpPr>
        <p:spPr>
          <a:xfrm>
            <a:off x="4526280" y="3177540"/>
            <a:ext cx="1463040" cy="868680"/>
          </a:xfrm>
          <a:prstGeom prst="roundRect">
            <a:avLst/>
          </a:prstGeom>
          <a:solidFill>
            <a:srgbClr val="FBBF24"/>
          </a:solidFill>
          <a:ln w="317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0F1D"/>
                </a:solidFill>
              </a:rPr>
              <a:t>Pha 02
</a:t>
            </a:r>
            <a:r>
              <a:rPr sz="1300" b="1">
                <a:solidFill>
                  <a:srgbClr val="0B0F1D"/>
                </a:solidFill>
              </a:rPr>
              <a:t>GỢI NHỚ</a:t>
            </a:r>
          </a:p>
        </p:txBody>
      </p:sp>
      <p:sp>
        <p:nvSpPr>
          <p:cNvPr id="9" name="!!satellite_node_2"/>
          <p:cNvSpPr/>
          <p:nvPr/>
        </p:nvSpPr>
        <p:spPr>
          <a:xfrm>
            <a:off x="3304995" y="5138719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03
</a:t>
            </a:r>
            <a:r>
              <a:rPr sz="1100" b="1">
                <a:solidFill>
                  <a:srgbClr val="94A3B8"/>
                </a:solidFill>
              </a:rPr>
              <a:t>LẬP LUẬN</a:t>
            </a:r>
          </a:p>
        </p:txBody>
      </p:sp>
      <p:sp>
        <p:nvSpPr>
          <p:cNvPr id="10" name="!!satellite_node_3"/>
          <p:cNvSpPr/>
          <p:nvPr/>
        </p:nvSpPr>
        <p:spPr>
          <a:xfrm>
            <a:off x="1106984" y="4424542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04
</a:t>
            </a:r>
            <a:r>
              <a:rPr sz="1100" b="1">
                <a:solidFill>
                  <a:srgbClr val="94A3B8"/>
                </a:solidFill>
              </a:rPr>
              <a:t>KIỂM TRA</a:t>
            </a:r>
          </a:p>
        </p:txBody>
      </p:sp>
      <p:sp>
        <p:nvSpPr>
          <p:cNvPr id="11" name="!!satellite_node_4"/>
          <p:cNvSpPr/>
          <p:nvPr/>
        </p:nvSpPr>
        <p:spPr>
          <a:xfrm>
            <a:off x="1106984" y="2113417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05
</a:t>
            </a:r>
            <a:r>
              <a:rPr sz="1100" b="1">
                <a:solidFill>
                  <a:srgbClr val="94A3B8"/>
                </a:solidFill>
              </a:rPr>
              <a:t>TỰ ĐÚC KẾT</a:t>
            </a:r>
          </a:p>
        </p:txBody>
      </p:sp>
      <p:sp>
        <p:nvSpPr>
          <p:cNvPr id="12" name="!!connector"/>
          <p:cNvSpPr/>
          <p:nvPr/>
        </p:nvSpPr>
        <p:spPr>
          <a:xfrm>
            <a:off x="6080760" y="3447288"/>
            <a:ext cx="594360" cy="329184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etail_card"/>
          <p:cNvSpPr/>
          <p:nvPr/>
        </p:nvSpPr>
        <p:spPr>
          <a:xfrm>
            <a:off x="5486400" y="1051560"/>
            <a:ext cx="5943600" cy="53035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/>
            <a:r>
              <a:rPr sz="2200" b="1">
                <a:solidFill>
                  <a:srgbClr val="FBBF24"/>
                </a:solidFill>
              </a:rPr>
              <a:t>PHA 02: GỢI NHỚ </a:t>
            </a:r>
            <a:r>
              <a:rPr sz="1400">
                <a:solidFill>
                  <a:srgbClr val="94A3B8"/>
                </a:solidFill>
              </a:rPr>
              <a:t>(RECALL)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F8FAFC"/>
                </a:solidFill>
              </a:rPr>
              <a:t>🎯 Mục tiêu sư phạm: Gợi mở để học sinh tự hồi tưởng lại định nghĩa, định luật và công thức SGK KHTN 7.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283553"/>
                </a:solidFill>
              </a:rPr>
              <a:t>────────────────────────────────────────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38BDF8"/>
                </a:solidFill>
              </a:rPr>
              <a:t>🤖 LỜI THOẠI GỢI MỞ CỦA SOCRATES NHÍ:
</a:t>
            </a:r>
            <a:r>
              <a:rPr sz="1200">
                <a:solidFill>
                  <a:srgbClr val="F8FAFC"/>
                </a:solidFill>
              </a:rPr>
              <a:t>Prompt Socratic: "Trong SGK KHTN 7, công thức liên hệ giữa quãng đường s, tốc độ v và thời gian t là gì em nhỉ?"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FBBF24"/>
                </a:solidFill>
              </a:rPr>
              <a:t>🛡️ PHẢN ỨNG HỌC SINH &amp; KHIÊN GUARDRAIL:
</a:t>
            </a:r>
            <a:r>
              <a:rPr sz="1150">
                <a:solidFill>
                  <a:srgbClr val="F8FAFC"/>
                </a:solidFill>
              </a:rPr>
              <a:t>• Tình huống: Học sinh phân vân: "Hình như là s chia t hay v nhân t vậy thầy?"
• Xử lý: Hạ nhỏ câu hỏi: Đưa ví dụ đời sống: "Nếu mỗi giờ em đi 20km, thì 2 giờ em đi được bao xa?"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4ADE80"/>
                </a:solidFill>
              </a:rPr>
              <a:t>📊 KẾT QUẢ ĐẠT ĐƯỢC:
</a:t>
            </a:r>
            <a:r>
              <a:rPr sz="1200" b="1">
                <a:solidFill>
                  <a:srgbClr val="F8FAFC"/>
                </a:solidFill>
              </a:rPr>
              <a:t>✔ Học sinh tự khôi phục công thức s = v * t mà không cần nhìn lời giải mẫu.</a:t>
            </a:r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PHA 3 / 5: SUY LUẬN LOGIC &amp; ĐỔI ĐƠN VỊ</a:t>
            </a:r>
          </a:p>
        </p:txBody>
      </p:sp>
      <p:sp>
        <p:nvSpPr>
          <p:cNvPr id="4" name="!!track_ring"/>
          <p:cNvSpPr/>
          <p:nvPr/>
        </p:nvSpPr>
        <p:spPr>
          <a:xfrm>
            <a:off x="1325880" y="1645920"/>
            <a:ext cx="3931920" cy="3931920"/>
          </a:xfrm>
          <a:prstGeom prst="ellipse">
            <a:avLst/>
          </a:prstGeom>
          <a:noFill/>
          <a:ln w="1905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inner_ring"/>
          <p:cNvSpPr/>
          <p:nvPr/>
        </p:nvSpPr>
        <p:spPr>
          <a:xfrm>
            <a:off x="1876348" y="2196388"/>
            <a:ext cx="2830982" cy="2830982"/>
          </a:xfrm>
          <a:prstGeom prst="ellipse">
            <a:avLst/>
          </a:prstGeom>
          <a:noFill/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enter_hub"/>
          <p:cNvSpPr/>
          <p:nvPr/>
        </p:nvSpPr>
        <p:spPr>
          <a:xfrm>
            <a:off x="2560320" y="2880360"/>
            <a:ext cx="1463040" cy="1463040"/>
          </a:xfrm>
          <a:prstGeom prst="ellipse">
            <a:avLst/>
          </a:prstGeom>
          <a:solidFill>
            <a:srgbClr val="141B2D"/>
          </a:solidFill>
          <a:ln w="317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🧠 AI
</a:t>
            </a:r>
            <a:r>
              <a:rPr sz="1100" b="1">
                <a:solidFill>
                  <a:srgbClr val="F8FAFC"/>
                </a:solidFill>
              </a:rPr>
              <a:t>SOCRATES</a:t>
            </a:r>
          </a:p>
        </p:txBody>
      </p:sp>
      <p:sp>
        <p:nvSpPr>
          <p:cNvPr id="7" name="!!satellite_node_0"/>
          <p:cNvSpPr/>
          <p:nvPr/>
        </p:nvSpPr>
        <p:spPr>
          <a:xfrm>
            <a:off x="1106984" y="2113417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01
</a:t>
            </a:r>
            <a:r>
              <a:rPr sz="1100" b="1">
                <a:solidFill>
                  <a:srgbClr val="94A3B8"/>
                </a:solidFill>
              </a:rPr>
              <a:t>LÀM RÕ</a:t>
            </a:r>
          </a:p>
        </p:txBody>
      </p:sp>
      <p:sp>
        <p:nvSpPr>
          <p:cNvPr id="8" name="!!satellite_node_1"/>
          <p:cNvSpPr/>
          <p:nvPr/>
        </p:nvSpPr>
        <p:spPr>
          <a:xfrm>
            <a:off x="3304995" y="1399240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02
</a:t>
            </a:r>
            <a:r>
              <a:rPr sz="1100" b="1">
                <a:solidFill>
                  <a:srgbClr val="94A3B8"/>
                </a:solidFill>
              </a:rPr>
              <a:t>GỢI NHỚ</a:t>
            </a:r>
          </a:p>
        </p:txBody>
      </p:sp>
      <p:sp>
        <p:nvSpPr>
          <p:cNvPr id="9" name="!!satellite_node_2"/>
          <p:cNvSpPr/>
          <p:nvPr/>
        </p:nvSpPr>
        <p:spPr>
          <a:xfrm>
            <a:off x="4526280" y="3177540"/>
            <a:ext cx="1463040" cy="868680"/>
          </a:xfrm>
          <a:prstGeom prst="roundRect">
            <a:avLst/>
          </a:prstGeom>
          <a:solidFill>
            <a:srgbClr val="4ADE80"/>
          </a:solidFill>
          <a:ln w="317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0F1D"/>
                </a:solidFill>
              </a:rPr>
              <a:t>Pha 03
</a:t>
            </a:r>
            <a:r>
              <a:rPr sz="1300" b="1">
                <a:solidFill>
                  <a:srgbClr val="0B0F1D"/>
                </a:solidFill>
              </a:rPr>
              <a:t>LẬP LUẬN</a:t>
            </a:r>
          </a:p>
        </p:txBody>
      </p:sp>
      <p:sp>
        <p:nvSpPr>
          <p:cNvPr id="10" name="!!satellite_node_3"/>
          <p:cNvSpPr/>
          <p:nvPr/>
        </p:nvSpPr>
        <p:spPr>
          <a:xfrm>
            <a:off x="3304995" y="5138719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04
</a:t>
            </a:r>
            <a:r>
              <a:rPr sz="1100" b="1">
                <a:solidFill>
                  <a:srgbClr val="94A3B8"/>
                </a:solidFill>
              </a:rPr>
              <a:t>KIỂM TRA</a:t>
            </a:r>
          </a:p>
        </p:txBody>
      </p:sp>
      <p:sp>
        <p:nvSpPr>
          <p:cNvPr id="11" name="!!satellite_node_4"/>
          <p:cNvSpPr/>
          <p:nvPr/>
        </p:nvSpPr>
        <p:spPr>
          <a:xfrm>
            <a:off x="1106984" y="4424542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05
</a:t>
            </a:r>
            <a:r>
              <a:rPr sz="1100" b="1">
                <a:solidFill>
                  <a:srgbClr val="94A3B8"/>
                </a:solidFill>
              </a:rPr>
              <a:t>TỰ ĐÚC KẾT</a:t>
            </a:r>
          </a:p>
        </p:txBody>
      </p:sp>
      <p:sp>
        <p:nvSpPr>
          <p:cNvPr id="12" name="!!connector"/>
          <p:cNvSpPr/>
          <p:nvPr/>
        </p:nvSpPr>
        <p:spPr>
          <a:xfrm>
            <a:off x="6080760" y="3447288"/>
            <a:ext cx="594360" cy="329184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etail_card"/>
          <p:cNvSpPr/>
          <p:nvPr/>
        </p:nvSpPr>
        <p:spPr>
          <a:xfrm>
            <a:off x="5486400" y="1051560"/>
            <a:ext cx="5943600" cy="53035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/>
            <a:r>
              <a:rPr sz="2200" b="1">
                <a:solidFill>
                  <a:srgbClr val="4ADE80"/>
                </a:solidFill>
              </a:rPr>
              <a:t>PHA 03: LẬP LUẬN </a:t>
            </a:r>
            <a:r>
              <a:rPr sz="1400">
                <a:solidFill>
                  <a:srgbClr val="94A3B8"/>
                </a:solidFill>
              </a:rPr>
              <a:t>(REASON)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F8FAFC"/>
                </a:solidFill>
              </a:rPr>
              <a:t>🎯 Mục tiêu sư phạm: Hướng dẫn học sinh nhận diện các bẫy đổi đơn vị (km/h sang m/s) và thiết lập phép tính.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283553"/>
                </a:solidFill>
              </a:rPr>
              <a:t>────────────────────────────────────────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38BDF8"/>
                </a:solidFill>
              </a:rPr>
              <a:t>🤖 LỜI THOẠI GỢI MỞ CỦA SOCRATES NHÍ:
</a:t>
            </a:r>
            <a:r>
              <a:rPr sz="1200">
                <a:solidFill>
                  <a:srgbClr val="F8FAFC"/>
                </a:solidFill>
              </a:rPr>
              <a:t>Prompt Socratic: "Em để ý kỹ nhé, thời gian đang tính bằng phút hay giờ? Ta cần đổi về đơn vị nào?"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FBBF24"/>
                </a:solidFill>
              </a:rPr>
              <a:t>🛡️ PHẢN ỨNG HỌC SINH &amp; KHIÊN GUARDRAIL:
</a:t>
            </a:r>
            <a:r>
              <a:rPr sz="1150">
                <a:solidFill>
                  <a:srgbClr val="F8FAFC"/>
                </a:solidFill>
              </a:rPr>
              <a:t>• Tình huống: Học sinh nhận ra bẫy: "À, 30 phút phải đổi ra 0.5 giờ trước ạ!"
• Xử lý: State Machine: Kiểm soát ma trận trạng thái, ép học sinh tự hoàn thiện bước đổi đơn vị.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4ADE80"/>
                </a:solidFill>
              </a:rPr>
              <a:t>📊 KẾT QUẢ ĐẠT ĐƯỢC:
</a:t>
            </a:r>
            <a:r>
              <a:rPr sz="1200" b="1">
                <a:solidFill>
                  <a:srgbClr val="F8FAFC"/>
                </a:solidFill>
              </a:rPr>
              <a:t>✔ 86.7% học sinh tránh được bẫy nhầm lẫn đơn vị đo lường trong KHTN.</a:t>
            </a:r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PHA 4 / 5: RÀ SOÁT TÍNH HỢP LÝ CỦA KẾT QUẢ</a:t>
            </a:r>
          </a:p>
        </p:txBody>
      </p:sp>
      <p:sp>
        <p:nvSpPr>
          <p:cNvPr id="4" name="!!track_ring"/>
          <p:cNvSpPr/>
          <p:nvPr/>
        </p:nvSpPr>
        <p:spPr>
          <a:xfrm>
            <a:off x="1325880" y="1645920"/>
            <a:ext cx="3931920" cy="3931920"/>
          </a:xfrm>
          <a:prstGeom prst="ellipse">
            <a:avLst/>
          </a:prstGeom>
          <a:noFill/>
          <a:ln w="1905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inner_ring"/>
          <p:cNvSpPr/>
          <p:nvPr/>
        </p:nvSpPr>
        <p:spPr>
          <a:xfrm>
            <a:off x="1876348" y="2196388"/>
            <a:ext cx="2830982" cy="2830982"/>
          </a:xfrm>
          <a:prstGeom prst="ellipse">
            <a:avLst/>
          </a:prstGeom>
          <a:noFill/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enter_hub"/>
          <p:cNvSpPr/>
          <p:nvPr/>
        </p:nvSpPr>
        <p:spPr>
          <a:xfrm>
            <a:off x="2560320" y="2880360"/>
            <a:ext cx="1463040" cy="1463040"/>
          </a:xfrm>
          <a:prstGeom prst="ellipse">
            <a:avLst/>
          </a:prstGeom>
          <a:solidFill>
            <a:srgbClr val="141B2D"/>
          </a:solidFill>
          <a:ln w="317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🧠 AI
</a:t>
            </a:r>
            <a:r>
              <a:rPr sz="1100" b="1">
                <a:solidFill>
                  <a:srgbClr val="F8FAFC"/>
                </a:solidFill>
              </a:rPr>
              <a:t>SOCRATES</a:t>
            </a:r>
          </a:p>
        </p:txBody>
      </p:sp>
      <p:sp>
        <p:nvSpPr>
          <p:cNvPr id="7" name="!!satellite_node_0"/>
          <p:cNvSpPr/>
          <p:nvPr/>
        </p:nvSpPr>
        <p:spPr>
          <a:xfrm>
            <a:off x="1106984" y="4424542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01
</a:t>
            </a:r>
            <a:r>
              <a:rPr sz="1100" b="1">
                <a:solidFill>
                  <a:srgbClr val="94A3B8"/>
                </a:solidFill>
              </a:rPr>
              <a:t>LÀM RÕ</a:t>
            </a:r>
          </a:p>
        </p:txBody>
      </p:sp>
      <p:sp>
        <p:nvSpPr>
          <p:cNvPr id="8" name="!!satellite_node_1"/>
          <p:cNvSpPr/>
          <p:nvPr/>
        </p:nvSpPr>
        <p:spPr>
          <a:xfrm>
            <a:off x="1106984" y="2113417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02
</a:t>
            </a:r>
            <a:r>
              <a:rPr sz="1100" b="1">
                <a:solidFill>
                  <a:srgbClr val="94A3B8"/>
                </a:solidFill>
              </a:rPr>
              <a:t>GỢI NHỚ</a:t>
            </a:r>
          </a:p>
        </p:txBody>
      </p:sp>
      <p:sp>
        <p:nvSpPr>
          <p:cNvPr id="9" name="!!satellite_node_2"/>
          <p:cNvSpPr/>
          <p:nvPr/>
        </p:nvSpPr>
        <p:spPr>
          <a:xfrm>
            <a:off x="3304995" y="1399240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03
</a:t>
            </a:r>
            <a:r>
              <a:rPr sz="1100" b="1">
                <a:solidFill>
                  <a:srgbClr val="94A3B8"/>
                </a:solidFill>
              </a:rPr>
              <a:t>LẬP LUẬN</a:t>
            </a:r>
          </a:p>
        </p:txBody>
      </p:sp>
      <p:sp>
        <p:nvSpPr>
          <p:cNvPr id="10" name="!!satellite_node_3"/>
          <p:cNvSpPr/>
          <p:nvPr/>
        </p:nvSpPr>
        <p:spPr>
          <a:xfrm>
            <a:off x="4526280" y="3177540"/>
            <a:ext cx="1463040" cy="868680"/>
          </a:xfrm>
          <a:prstGeom prst="roundRect">
            <a:avLst/>
          </a:prstGeom>
          <a:solidFill>
            <a:srgbClr val="A855F7"/>
          </a:solidFill>
          <a:ln w="317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0F1D"/>
                </a:solidFill>
              </a:rPr>
              <a:t>Pha 04
</a:t>
            </a:r>
            <a:r>
              <a:rPr sz="1300" b="1">
                <a:solidFill>
                  <a:srgbClr val="0B0F1D"/>
                </a:solidFill>
              </a:rPr>
              <a:t>KIỂM TRA</a:t>
            </a:r>
          </a:p>
        </p:txBody>
      </p:sp>
      <p:sp>
        <p:nvSpPr>
          <p:cNvPr id="11" name="!!satellite_node_4"/>
          <p:cNvSpPr/>
          <p:nvPr/>
        </p:nvSpPr>
        <p:spPr>
          <a:xfrm>
            <a:off x="3304995" y="5138719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05
</a:t>
            </a:r>
            <a:r>
              <a:rPr sz="1100" b="1">
                <a:solidFill>
                  <a:srgbClr val="94A3B8"/>
                </a:solidFill>
              </a:rPr>
              <a:t>TỰ ĐÚC KẾT</a:t>
            </a:r>
          </a:p>
        </p:txBody>
      </p:sp>
      <p:sp>
        <p:nvSpPr>
          <p:cNvPr id="12" name="!!connector"/>
          <p:cNvSpPr/>
          <p:nvPr/>
        </p:nvSpPr>
        <p:spPr>
          <a:xfrm>
            <a:off x="6080760" y="3447288"/>
            <a:ext cx="594360" cy="329184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etail_card"/>
          <p:cNvSpPr/>
          <p:nvPr/>
        </p:nvSpPr>
        <p:spPr>
          <a:xfrm>
            <a:off x="5486400" y="1051560"/>
            <a:ext cx="5943600" cy="53035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/>
            <a:r>
              <a:rPr sz="2200" b="1">
                <a:solidFill>
                  <a:srgbClr val="A855F7"/>
                </a:solidFill>
              </a:rPr>
              <a:t>PHA 04: KIỂM TRA </a:t>
            </a:r>
            <a:r>
              <a:rPr sz="1400">
                <a:solidFill>
                  <a:srgbClr val="94A3B8"/>
                </a:solidFill>
              </a:rPr>
              <a:t>(CHECK)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F8FAFC"/>
                </a:solidFill>
              </a:rPr>
              <a:t>🎯 Mục tiêu sư phạm: Yêu cầu học sinh tự phản biện và đối chiếu kết quả với thực tế đời sống khoa học.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283553"/>
                </a:solidFill>
              </a:rPr>
              <a:t>────────────────────────────────────────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38BDF8"/>
                </a:solidFill>
              </a:rPr>
              <a:t>🤖 LỜI THOẠI GỢI MỞ CỦA SOCRATES NHÍ:
</a:t>
            </a:r>
            <a:r>
              <a:rPr sz="1200">
                <a:solidFill>
                  <a:srgbClr val="F8FAFC"/>
                </a:solidFill>
              </a:rPr>
              <a:t>Prompt Socratic: "Em vừa tính ra vận tốc xe đạp là 120 km/h, theo em con số này ngoài đời có hợp lý không?"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FBBF24"/>
                </a:solidFill>
              </a:rPr>
              <a:t>🛡️ PHẢN ỨNG HỌC SINH &amp; KHIÊN GUARDRAIL:
</a:t>
            </a:r>
            <a:r>
              <a:rPr sz="1150">
                <a:solidFill>
                  <a:srgbClr val="F8FAFC"/>
                </a:solidFill>
              </a:rPr>
              <a:t>• Tình huống: Học sinh tư duy phản biện: "Dạ không thể, xe đạp không thể chạy nhanh như ô tô cao tốc được ạ!"
• Xử lý: Kích hoạt Phản tư Socratic: Hướng dẫn học sinh tự kiểm tra lại phép tính của chính mình.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4ADE80"/>
                </a:solidFill>
              </a:rPr>
              <a:t>📊 KẾT QUẢ ĐẠT ĐƯỢC:
</a:t>
            </a:r>
            <a:r>
              <a:rPr sz="1200" b="1">
                <a:solidFill>
                  <a:srgbClr val="F8FAFC"/>
                </a:solidFill>
              </a:rPr>
              <a:t>✔ Hình thành thói quen hoài nghi khoa học và tự soát lỗi trước khi kết luận.</a:t>
            </a:r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PHA 5 / 5: MỞ KHÓA SƠ ĐỒ TƯ DUY &amp; SỔ TAY</a:t>
            </a:r>
          </a:p>
        </p:txBody>
      </p:sp>
      <p:sp>
        <p:nvSpPr>
          <p:cNvPr id="4" name="!!track_ring"/>
          <p:cNvSpPr/>
          <p:nvPr/>
        </p:nvSpPr>
        <p:spPr>
          <a:xfrm>
            <a:off x="1325880" y="1645920"/>
            <a:ext cx="3931920" cy="3931920"/>
          </a:xfrm>
          <a:prstGeom prst="ellipse">
            <a:avLst/>
          </a:prstGeom>
          <a:noFill/>
          <a:ln w="1905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inner_ring"/>
          <p:cNvSpPr/>
          <p:nvPr/>
        </p:nvSpPr>
        <p:spPr>
          <a:xfrm>
            <a:off x="1876348" y="2196388"/>
            <a:ext cx="2830982" cy="2830982"/>
          </a:xfrm>
          <a:prstGeom prst="ellipse">
            <a:avLst/>
          </a:prstGeom>
          <a:noFill/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center_hub"/>
          <p:cNvSpPr/>
          <p:nvPr/>
        </p:nvSpPr>
        <p:spPr>
          <a:xfrm>
            <a:off x="2560320" y="2880360"/>
            <a:ext cx="1463040" cy="1463040"/>
          </a:xfrm>
          <a:prstGeom prst="ellipse">
            <a:avLst/>
          </a:prstGeom>
          <a:solidFill>
            <a:srgbClr val="141B2D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🧠 AI
</a:t>
            </a:r>
            <a:r>
              <a:rPr sz="1100" b="1">
                <a:solidFill>
                  <a:srgbClr val="F8FAFC"/>
                </a:solidFill>
              </a:rPr>
              <a:t>SOCRATES</a:t>
            </a:r>
          </a:p>
        </p:txBody>
      </p:sp>
      <p:sp>
        <p:nvSpPr>
          <p:cNvPr id="7" name="!!satellite_node_0"/>
          <p:cNvSpPr/>
          <p:nvPr/>
        </p:nvSpPr>
        <p:spPr>
          <a:xfrm>
            <a:off x="3304995" y="5138719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01
</a:t>
            </a:r>
            <a:r>
              <a:rPr sz="1100" b="1">
                <a:solidFill>
                  <a:srgbClr val="94A3B8"/>
                </a:solidFill>
              </a:rPr>
              <a:t>LÀM RÕ</a:t>
            </a:r>
          </a:p>
        </p:txBody>
      </p:sp>
      <p:sp>
        <p:nvSpPr>
          <p:cNvPr id="8" name="!!satellite_node_1"/>
          <p:cNvSpPr/>
          <p:nvPr/>
        </p:nvSpPr>
        <p:spPr>
          <a:xfrm>
            <a:off x="1106984" y="4424542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02
</a:t>
            </a:r>
            <a:r>
              <a:rPr sz="1100" b="1">
                <a:solidFill>
                  <a:srgbClr val="94A3B8"/>
                </a:solidFill>
              </a:rPr>
              <a:t>GỢI NHỚ</a:t>
            </a:r>
          </a:p>
        </p:txBody>
      </p:sp>
      <p:sp>
        <p:nvSpPr>
          <p:cNvPr id="9" name="!!satellite_node_2"/>
          <p:cNvSpPr/>
          <p:nvPr/>
        </p:nvSpPr>
        <p:spPr>
          <a:xfrm>
            <a:off x="1106984" y="2113417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03
</a:t>
            </a:r>
            <a:r>
              <a:rPr sz="1100" b="1">
                <a:solidFill>
                  <a:srgbClr val="94A3B8"/>
                </a:solidFill>
              </a:rPr>
              <a:t>LẬP LUẬN</a:t>
            </a:r>
          </a:p>
        </p:txBody>
      </p:sp>
      <p:sp>
        <p:nvSpPr>
          <p:cNvPr id="10" name="!!satellite_node_3"/>
          <p:cNvSpPr/>
          <p:nvPr/>
        </p:nvSpPr>
        <p:spPr>
          <a:xfrm>
            <a:off x="3304995" y="1399240"/>
            <a:ext cx="1188720" cy="6858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00" b="1">
                <a:solidFill>
                  <a:srgbClr val="94A3B8"/>
                </a:solidFill>
              </a:rPr>
              <a:t>Pha 04
</a:t>
            </a:r>
            <a:r>
              <a:rPr sz="1100" b="1">
                <a:solidFill>
                  <a:srgbClr val="94A3B8"/>
                </a:solidFill>
              </a:rPr>
              <a:t>KIỂM TRA</a:t>
            </a:r>
          </a:p>
        </p:txBody>
      </p:sp>
      <p:sp>
        <p:nvSpPr>
          <p:cNvPr id="11" name="!!satellite_node_4"/>
          <p:cNvSpPr/>
          <p:nvPr/>
        </p:nvSpPr>
        <p:spPr>
          <a:xfrm>
            <a:off x="4526280" y="3177540"/>
            <a:ext cx="1463040" cy="868680"/>
          </a:xfrm>
          <a:prstGeom prst="roundRect">
            <a:avLst/>
          </a:prstGeom>
          <a:solidFill>
            <a:srgbClr val="FB923C"/>
          </a:solidFill>
          <a:ln w="317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0F1D"/>
                </a:solidFill>
              </a:rPr>
              <a:t>Pha 05
</a:t>
            </a:r>
            <a:r>
              <a:rPr sz="1300" b="1">
                <a:solidFill>
                  <a:srgbClr val="0B0F1D"/>
                </a:solidFill>
              </a:rPr>
              <a:t>TỰ ĐÚC KẾT</a:t>
            </a:r>
          </a:p>
        </p:txBody>
      </p:sp>
      <p:sp>
        <p:nvSpPr>
          <p:cNvPr id="12" name="!!connector"/>
          <p:cNvSpPr/>
          <p:nvPr/>
        </p:nvSpPr>
        <p:spPr>
          <a:xfrm>
            <a:off x="6080760" y="3447288"/>
            <a:ext cx="594360" cy="329184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etail_card"/>
          <p:cNvSpPr/>
          <p:nvPr/>
        </p:nvSpPr>
        <p:spPr>
          <a:xfrm>
            <a:off x="5486400" y="1051560"/>
            <a:ext cx="5943600" cy="530352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/>
            <a:r>
              <a:rPr sz="2200" b="1">
                <a:solidFill>
                  <a:srgbClr val="FB923C"/>
                </a:solidFill>
              </a:rPr>
              <a:t>PHA 05: TỰ ĐÚC KẾT </a:t>
            </a:r>
            <a:r>
              <a:rPr sz="1400">
                <a:solidFill>
                  <a:srgbClr val="94A3B8"/>
                </a:solidFill>
              </a:rPr>
              <a:t>(GENERALIZE)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F8FAFC"/>
                </a:solidFill>
              </a:rPr>
              <a:t>🎯 Mục tiêu sư phạm: Học sinh tự tay đúc kết quy tắc bài học để mở khóa Cây Trí Tuệ 3 Nhánh và Sổ Tay Tự Học.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283553"/>
                </a:solidFill>
              </a:rPr>
              <a:t>────────────────────────────────────────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38BDF8"/>
                </a:solidFill>
              </a:rPr>
              <a:t>🤖 LỜI THOẠI GỢI MỞ CỦA SOCRATES NHÍ:
</a:t>
            </a:r>
            <a:r>
              <a:rPr sz="1200">
                <a:solidFill>
                  <a:srgbClr val="F8FAFC"/>
                </a:solidFill>
              </a:rPr>
              <a:t>Prompt Socratic: "Xuất sắc! Em hãy tự tóm tắt lại bài học hôm nay bằng 1 câu để lưu vào Sổ tay nhé!"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FBBF24"/>
                </a:solidFill>
              </a:rPr>
              <a:t>🛡️ PHẢN ỨNG HỌC SINH &amp; KHIÊN GUARDRAIL:
</a:t>
            </a:r>
            <a:r>
              <a:rPr sz="1150">
                <a:solidFill>
                  <a:srgbClr val="F8FAFC"/>
                </a:solidFill>
              </a:rPr>
              <a:t>• Tình huống: Học sinh gõ đúc kết: "Muốn tính tốc độ phải lấy quãng đường chia thời gian cùng đơn vị chuẩn."
• Xử lý: Mở khóa Trạm 5: Kích hoạt Sơ đồ tư duy dạng nhánh (Mindmap) &amp; Lưu vĩnh viễn vào Sổ tay.</a:t>
            </a:r>
          </a:p>
          <a:p>
            <a:pPr>
              <a:spcBef>
                <a:spcPts val="1000"/>
              </a:spcBef>
            </a:pPr>
            <a:r>
              <a:rPr sz="1150" b="1">
                <a:solidFill>
                  <a:srgbClr val="4ADE80"/>
                </a:solidFill>
              </a:rPr>
              <a:t>📊 KẾT QUẢ ĐẠT ĐƯỢC:
</a:t>
            </a:r>
            <a:r>
              <a:rPr sz="1200" b="1">
                <a:solidFill>
                  <a:srgbClr val="F8FAFC"/>
                </a:solidFill>
              </a:rPr>
              <a:t>✔ Đạt mức tối đa 6/6 điểm Rubric Sư phạm; khắc sâu kiến thức vào trí nhớ dài hạn.</a:t>
            </a:r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SOCRATES NHÍ 💡 </a:t>
            </a:r>
            <a:r>
              <a:rPr sz="1200">
                <a:solidFill>
                  <a:srgbClr val="94A3B8"/>
                </a:solidFill>
              </a:rPr>
              <a:t>  |   CHU TRÌNH GỢI MỞ 5 PHA DẠNG VÒNG XOAY (ROTATING MORPH EFFECT)   |   </a:t>
            </a:r>
            <a:r>
              <a:rPr sz="1300" b="1">
                <a:solidFill>
                  <a:srgbClr val="FBBF24"/>
                </a:solidFill>
              </a:rPr>
              <a:t>TỔNG KẾT HỆ SINH THÁI ĐỘC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BBF24"/>
                </a:solidFill>
              </a:rPr>
              <a:t>HỆ SINH THÁI KHÉP KÍN ĐỒNG BỘ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560320" cy="365760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1100" b="1">
                <a:solidFill>
                  <a:srgbClr val="38BDF8"/>
                </a:solidFill>
              </a:rPr>
              <a:t>CỘT TRỤ 1
</a:t>
            </a:r>
            <a:r>
              <a:rPr sz="1600" b="1">
                <a:solidFill>
                  <a:srgbClr val="F8FAFC"/>
                </a:solidFill>
              </a:rPr>
              <a:t>CHU TRÌNH 5 PHA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4A3B8"/>
                </a:solidFill>
              </a:rPr>
              <a:t>Điều phối bởi State Machine tuần tự, không nhảy cóc, kiên nhẫn dẫn dắt học sinh.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468880"/>
            <a:ext cx="2560320" cy="365760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1100" b="1">
                <a:solidFill>
                  <a:srgbClr val="FBBF24"/>
                </a:solidFill>
              </a:rPr>
              <a:t>CỘT TRỤ 2
</a:t>
            </a:r>
            <a:r>
              <a:rPr sz="1600" b="1">
                <a:solidFill>
                  <a:srgbClr val="F8FAFC"/>
                </a:solidFill>
              </a:rPr>
              <a:t>KHIÊN GUARDRAIL 3 TẦNG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4A3B8"/>
                </a:solidFill>
              </a:rPr>
              <a:t>Chặn đứng 100% nài ép giải hộ; từ chối thân thiện kéo học sinh lại bài học.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468880"/>
            <a:ext cx="2560320" cy="365760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1100" b="1">
                <a:solidFill>
                  <a:srgbClr val="4ADE80"/>
                </a:solidFill>
              </a:rPr>
              <a:t>CỘT TRỤ 3
</a:t>
            </a:r>
            <a:r>
              <a:rPr sz="1600" b="1">
                <a:solidFill>
                  <a:srgbClr val="F8FAFC"/>
                </a:solidFill>
              </a:rPr>
              <a:t>SƠ ĐỒ TƯ DUY 3 NHÁNH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4A3B8"/>
                </a:solidFill>
              </a:rPr>
              <a:t>Cây trí tuệ tự mở khóa sau khi học sinh tự gõ đúc kết, lưu Sổ tay tự học vĩnh viễn.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468880"/>
            <a:ext cx="2560320" cy="365760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1100" b="1">
                <a:solidFill>
                  <a:srgbClr val="A855F7"/>
                </a:solidFill>
              </a:rPr>
              <a:t>CỘT TRỤ 4
</a:t>
            </a:r>
            <a:r>
              <a:rPr sz="1600" b="1">
                <a:solidFill>
                  <a:srgbClr val="F8FAFC"/>
                </a:solidFill>
              </a:rPr>
              <a:t>DEMO OFFLINE 12 BÀI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94A3B8"/>
                </a:solidFill>
              </a:rPr>
              <a:t>Tự động kích hoạt khi rớt mạng Wifi hội trường; 100% không bị treo gián đoạn.</a:t>
            </a:r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