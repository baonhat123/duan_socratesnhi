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10058400" cy="2743200"/>
          </a:xfrm>
          <a:prstGeom prst="rect">
            <a:avLst/>
          </a:prstGeom>
          <a:noFill/>
        </p:spPr>
        <p:txBody>
          <a:bodyPr wrap="square">
            <a:spAutoFit/>
          </a:bodyPr>
          <a:lstStyle/>
          <a:p>
            <a:pPr>
              <a:defRPr sz="2400" b="1">
                <a:solidFill>
                  <a:srgbClr val="38BDF8"/>
                </a:solidFill>
              </a:defRPr>
            </a:pPr>
            <a:r>
              <a:t>SOCRATES NHÍ 💡</a:t>
            </a:r>
          </a:p>
          <a:p>
            <a:pPr>
              <a:spcBef>
                <a:spcPts val="800"/>
              </a:spcBef>
              <a:defRPr sz="3600" b="1">
                <a:solidFill>
                  <a:srgbClr val="F8FAFC"/>
                </a:solidFill>
              </a:defRPr>
            </a:pPr>
            <a:r>
              <a:t>KỊCH BẢN QUAY VIDEO THUYẾT TRÌNH SẢN PHẨM</a:t>
            </a:r>
          </a:p>
          <a:p>
            <a:pPr>
              <a:spcBef>
                <a:spcPts val="600"/>
              </a:spcBef>
              <a:defRPr sz="1800">
                <a:solidFill>
                  <a:srgbClr val="FBBF24"/>
                </a:solidFill>
              </a:defRPr>
            </a:pPr>
            <a:r>
              <a:t>Thời lượng mục tiêu: 4 phút 45 giây (Chuẩn quy định dưới 5 phút Bảng A THCS)</a:t>
            </a:r>
          </a:p>
        </p:txBody>
      </p:sp>
      <p:sp>
        <p:nvSpPr>
          <p:cNvPr id="4" name="Rounded Rectangle 3"/>
          <p:cNvSpPr/>
          <p:nvPr/>
        </p:nvSpPr>
        <p:spPr>
          <a:xfrm>
            <a:off x="1097280" y="3840480"/>
            <a:ext cx="10058400"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28600"/>
          <a:lstStyle/>
          <a:p>
            <a:pPr algn="ctr">
              <a:defRPr b="1" sz="1600">
                <a:solidFill>
                  <a:srgbClr val="4ADE80"/>
                </a:solidFill>
              </a:defRPr>
            </a:pPr>
            <a:r>
              <a:t>💡 CÁCH SỬ DỤNG POWERPOINT NÀY ĐỂ QUAY VIDEO CỰC KỲ DỄ:</a:t>
            </a:r>
          </a:p>
          <a:p>
            <a:pPr>
              <a:spcBef>
                <a:spcPts val="400"/>
              </a:spcBef>
              <a:defRPr sz="1400">
                <a:solidFill>
                  <a:srgbClr val="F8FAFC"/>
                </a:solidFill>
              </a:defRPr>
            </a:pPr>
            <a:r>
              <a:t>1. Bật chế độ Trình chiếu (Slide Show - phím F5) trên laptop, đặt cạnh ống kính camera điện thoại.</a:t>
            </a:r>
          </a:p>
          <a:p>
            <a:pPr>
              <a:spcBef>
                <a:spcPts val="400"/>
              </a:spcBef>
              <a:defRPr sz="1400">
                <a:solidFill>
                  <a:srgbClr val="F8FAFC"/>
                </a:solidFill>
              </a:defRPr>
            </a:pPr>
            <a:r>
              <a:t>2. Mỗi slide là một câu/đoạn nói ngắn (15 - 35 giây). Đọc xong chỉ cần bấm phím Cách (Spacebar) hoặc Mũi tên ➡ để sang đoạn tiếp theo.</a:t>
            </a:r>
          </a:p>
          <a:p>
            <a:pPr>
              <a:spcBef>
                <a:spcPts val="400"/>
              </a:spcBef>
              <a:defRPr sz="1400">
                <a:solidFill>
                  <a:srgbClr val="F8FAFC"/>
                </a:solidFill>
              </a:defRPr>
            </a:pPr>
            <a:r>
              <a:t>3. Phần khung Vàng ở trên là CỬ CHỈ &amp; HÀNH ĐỘNG (cười, chỉ tay vào màn hình, cúi chào).</a:t>
            </a:r>
          </a:p>
          <a:p>
            <a:pPr>
              <a:spcBef>
                <a:spcPts val="400"/>
              </a:spcBef>
              <a:defRPr sz="1400">
                <a:solidFill>
                  <a:srgbClr val="F8FAFC"/>
                </a:solidFill>
              </a:defRPr>
            </a:pPr>
            <a:r>
              <a:t>4. Phần chữ LỚN ở dưới là LỜI THOẠI em đọc nhìn thẳng vào ống kính máy quay.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lIns="0" tIns="0">
            <a:spAutoFit/>
          </a:bodyPr>
          <a:lstStyle/>
          <a:p>
            <a:r>
              <a:rPr sz="1300" b="1">
                <a:solidFill>
                  <a:srgbClr val="38BDF8"/>
                </a:solidFill>
              </a:rPr>
              <a:t>PHẦN 1: MỞ ĐẦU &amp; THỰC TRẠNG (ĐOẠN 1/3)</a:t>
            </a:r>
            <a:r>
              <a:rPr sz="1300">
                <a:solidFill>
                  <a:srgbClr val="94A3B8"/>
                </a:solidFill>
              </a:rPr>
              <a:t>   |   </a:t>
            </a:r>
            <a:r>
              <a:rPr sz="1400" b="1">
                <a:solidFill>
                  <a:srgbClr val="FBBF24"/>
                </a:solidFill>
              </a:rPr>
              <a:t>⏱ 0:00 – 0:15 (15 giây)</a:t>
            </a:r>
          </a:p>
        </p:txBody>
      </p:sp>
      <p:sp>
        <p:nvSpPr>
          <p:cNvPr id="4" name="Rounded Rectangle 3"/>
          <p:cNvSpPr/>
          <p:nvPr/>
        </p:nvSpPr>
        <p:spPr>
          <a:xfrm>
            <a:off x="731520" y="1051560"/>
            <a:ext cx="10728655" cy="777240"/>
          </a:xfrm>
          <a:prstGeom prst="roundRect">
            <a:avLst/>
          </a:prstGeom>
          <a:solidFill>
            <a:srgbClr val="2D2314"/>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bIns="91440"/>
          <a:lstStyle/>
          <a:p>
            <a:pPr algn="ctr">
              <a:defRPr sz="1350" b="1">
                <a:solidFill>
                  <a:srgbClr val="FBBF24"/>
                </a:solidFill>
              </a:defRPr>
            </a:pPr>
            <a:r>
              <a:t>🎬 CỬ CHỈ: Nhìn thẳng camera, tươi cười rạng rỡ, cúi đầu chào lịch sự.</a:t>
            </a:r>
          </a:p>
        </p:txBody>
      </p:sp>
      <p:sp>
        <p:nvSpPr>
          <p:cNvPr id="5" name="Rounded Rectangle 4"/>
          <p:cNvSpPr/>
          <p:nvPr/>
        </p:nvSpPr>
        <p:spPr>
          <a:xfrm>
            <a:off x="731520" y="1965960"/>
            <a:ext cx="10728655" cy="3977639"/>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320040"/>
          <a:lstStyle/>
          <a:p>
            <a:pPr algn="ctr">
              <a:defRPr sz="2100">
                <a:solidFill>
                  <a:srgbClr val="F8FAFC"/>
                </a:solidFill>
                <a:latin typeface="Calibri"/>
              </a:defRPr>
            </a:pPr>
            <a:r>
              <a:t>"Kính chào Quý Ban Giám khảo và các thầy cô giáo!</a:t>
            </a:r>
          </a:p>
          <a:p>
            <a:pPr>
              <a:spcBef>
                <a:spcPts val="1000"/>
              </a:spcBef>
              <a:defRPr sz="2100">
                <a:solidFill>
                  <a:srgbClr val="F8FAFC"/>
                </a:solidFill>
                <a:latin typeface="Calibri"/>
              </a:defRPr>
            </a:pPr>
            <a:r>
              <a:t>Em tên là [Họ và tên của em], học sinh lớp [Lớp của em], đại diện nhóm tác giả Bảng A xin trân trọng gửi tới cuộc thi dự án:</a:t>
            </a:r>
          </a:p>
          <a:p>
            <a:pPr>
              <a:spcBef>
                <a:spcPts val="1000"/>
              </a:spcBef>
              <a:defRPr sz="2100" b="1">
                <a:solidFill>
                  <a:srgbClr val="38BDF8"/>
                </a:solidFill>
                <a:latin typeface="Calibri"/>
              </a:defRPr>
            </a:pPr>
            <a:r>
              <a:t>'Socrates Nhí 💡 - Trợ lý AI gợi mở tư duy Khoa học Tự nhiên THCS theo phương pháp Vấn đáp Socratic'."</a:t>
            </a:r>
          </a:p>
        </p:txBody>
      </p:sp>
      <p:sp>
        <p:nvSpPr>
          <p:cNvPr id="6" name="TextBox 5"/>
          <p:cNvSpPr txBox="1"/>
          <p:nvPr/>
        </p:nvSpPr>
        <p:spPr>
          <a:xfrm>
            <a:off x="731520" y="6035040"/>
            <a:ext cx="10728655" cy="548640"/>
          </a:xfrm>
          <a:prstGeom prst="rect">
            <a:avLst/>
          </a:prstGeom>
          <a:noFill/>
        </p:spPr>
        <p:txBody>
          <a:bodyPr wrap="square" lIns="0" tIns="0">
            <a:spAutoFit/>
          </a:bodyPr>
          <a:lstStyle/>
          <a:p>
            <a:r>
              <a:rPr sz="1150" i="1">
                <a:solidFill>
                  <a:srgbClr val="4ADE80"/>
                </a:solidFill>
              </a:rPr>
              <a:t>⭐ Phát âm chuẩn: 'Xô-crat Nhí'. Tác phong tự tin, nét mặt tươi sáng.</a:t>
            </a:r>
          </a:p>
          <a:p>
            <a:r>
              <a:rPr sz="1100" b="1">
                <a:solidFill>
                  <a:srgbClr val="94A3B8"/>
                </a:solidFill>
              </a:rPr>
              <a:t>Slide 2/14   |   [Bấm phím Space / Mũi tên phải ➡ để sang đoạn kế tiếp]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lIns="0" tIns="0">
            <a:spAutoFit/>
          </a:bodyPr>
          <a:lstStyle/>
          <a:p>
            <a:r>
              <a:rPr sz="1300" b="1">
                <a:solidFill>
                  <a:srgbClr val="38BDF8"/>
                </a:solidFill>
              </a:rPr>
              <a:t>PHẦN 1: MỞ ĐẦU &amp; THỰC TRẠNG (ĐOẠN 2/3)</a:t>
            </a:r>
            <a:r>
              <a:rPr sz="1300">
                <a:solidFill>
                  <a:srgbClr val="94A3B8"/>
                </a:solidFill>
              </a:rPr>
              <a:t>   |   </a:t>
            </a:r>
            <a:r>
              <a:rPr sz="1400" b="1">
                <a:solidFill>
                  <a:srgbClr val="FBBF24"/>
                </a:solidFill>
              </a:rPr>
              <a:t>⏱ 0:15 – 0:35 (20 giây)</a:t>
            </a:r>
          </a:p>
        </p:txBody>
      </p:sp>
      <p:sp>
        <p:nvSpPr>
          <p:cNvPr id="4" name="Rounded Rectangle 3"/>
          <p:cNvSpPr/>
          <p:nvPr/>
        </p:nvSpPr>
        <p:spPr>
          <a:xfrm>
            <a:off x="731520" y="1051560"/>
            <a:ext cx="10728655" cy="777240"/>
          </a:xfrm>
          <a:prstGeom prst="roundRect">
            <a:avLst/>
          </a:prstGeom>
          <a:solidFill>
            <a:srgbClr val="2D2314"/>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bIns="91440"/>
          <a:lstStyle/>
          <a:p>
            <a:pPr algn="ctr">
              <a:defRPr sz="1350" b="1">
                <a:solidFill>
                  <a:srgbClr val="FBBF24"/>
                </a:solidFill>
              </a:defRPr>
            </a:pPr>
            <a:r>
              <a:t>🎬 CỬ CHỈ: Nét mặt trăn trở, giơ nhẹ bàn tay minh họa động tác chụp ảnh điện thoại.</a:t>
            </a:r>
          </a:p>
        </p:txBody>
      </p:sp>
      <p:sp>
        <p:nvSpPr>
          <p:cNvPr id="5" name="Rounded Rectangle 4"/>
          <p:cNvSpPr/>
          <p:nvPr/>
        </p:nvSpPr>
        <p:spPr>
          <a:xfrm>
            <a:off x="731520" y="1965960"/>
            <a:ext cx="10728655" cy="3977639"/>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320040"/>
          <a:lstStyle/>
          <a:p>
            <a:pPr algn="ctr">
              <a:defRPr sz="2100">
                <a:solidFill>
                  <a:srgbClr val="F8FAFC"/>
                </a:solidFill>
                <a:latin typeface="Calibri"/>
              </a:defRPr>
            </a:pPr>
            <a:r>
              <a:t>"Thưa thầy cô, hiện nay khi gặp một bài toán KHTN khó, phản xạ đầu tiên của rất nhiều bạn học sinh là rút điện thoại ra, chụp ảnh gửi cho các công cụ AI để xin lời giải sẵn rồi chép vào vở.</a:t>
            </a:r>
          </a:p>
          <a:p>
            <a:pPr>
              <a:spcBef>
                <a:spcPts val="1000"/>
              </a:spcBef>
              <a:defRPr sz="2100" b="1">
                <a:solidFill>
                  <a:srgbClr val="38BDF8"/>
                </a:solidFill>
                <a:latin typeface="Calibri"/>
              </a:defRPr>
            </a:pPr>
            <a:r>
              <a:t>Điều này tạo nên một nghịch lý đáng lo ngại: AI càng thông minh và giải bài nhanh bao nhiêu, thì học sinh chúng em lại càng lười suy nghĩ và mất dần khả năng tư duy độc lập bấy nhiêu!"</a:t>
            </a:r>
          </a:p>
        </p:txBody>
      </p:sp>
      <p:sp>
        <p:nvSpPr>
          <p:cNvPr id="6" name="TextBox 5"/>
          <p:cNvSpPr txBox="1"/>
          <p:nvPr/>
        </p:nvSpPr>
        <p:spPr>
          <a:xfrm>
            <a:off x="731520" y="6035040"/>
            <a:ext cx="10728655" cy="548640"/>
          </a:xfrm>
          <a:prstGeom prst="rect">
            <a:avLst/>
          </a:prstGeom>
          <a:noFill/>
        </p:spPr>
        <p:txBody>
          <a:bodyPr wrap="square" lIns="0" tIns="0">
            <a:spAutoFit/>
          </a:bodyPr>
          <a:lstStyle/>
          <a:p>
            <a:r>
              <a:rPr sz="1150" i="1">
                <a:solidFill>
                  <a:srgbClr val="4ADE80"/>
                </a:solidFill>
              </a:rPr>
              <a:t>⭐ Nhấn mạnh cụm từ: 'Nghịch lý đáng lo ngại' và 'Mất dần khả năng tư duy độc lập'.</a:t>
            </a:r>
          </a:p>
          <a:p>
            <a:r>
              <a:rPr sz="1100" b="1">
                <a:solidFill>
                  <a:srgbClr val="94A3B8"/>
                </a:solidFill>
              </a:rPr>
              <a:t>Slide 3/14   |   [Bấm phím Space / Mũi tên phải ➡ để sang đoạn kế tiếp]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lIns="0" tIns="0">
            <a:spAutoFit/>
          </a:bodyPr>
          <a:lstStyle/>
          <a:p>
            <a:r>
              <a:rPr sz="1300" b="1">
                <a:solidFill>
                  <a:srgbClr val="38BDF8"/>
                </a:solidFill>
              </a:rPr>
              <a:t>PHẦN 1: MỞ ĐẦU &amp; THỰC TRẠNG (ĐOẠN 3/3)</a:t>
            </a:r>
            <a:r>
              <a:rPr sz="1300">
                <a:solidFill>
                  <a:srgbClr val="94A3B8"/>
                </a:solidFill>
              </a:rPr>
              <a:t>   |   </a:t>
            </a:r>
            <a:r>
              <a:rPr sz="1400" b="1">
                <a:solidFill>
                  <a:srgbClr val="FBBF24"/>
                </a:solidFill>
              </a:rPr>
              <a:t>⏱ 0:35 – 0:50 (15 giây)</a:t>
            </a:r>
          </a:p>
        </p:txBody>
      </p:sp>
      <p:sp>
        <p:nvSpPr>
          <p:cNvPr id="4" name="Rounded Rectangle 3"/>
          <p:cNvSpPr/>
          <p:nvPr/>
        </p:nvSpPr>
        <p:spPr>
          <a:xfrm>
            <a:off x="731520" y="1051560"/>
            <a:ext cx="10728655" cy="777240"/>
          </a:xfrm>
          <a:prstGeom prst="roundRect">
            <a:avLst/>
          </a:prstGeom>
          <a:solidFill>
            <a:srgbClr val="2D2314"/>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bIns="91440"/>
          <a:lstStyle/>
          <a:p>
            <a:pPr algn="ctr">
              <a:defRPr sz="1350" b="1">
                <a:solidFill>
                  <a:srgbClr val="FBBF24"/>
                </a:solidFill>
              </a:defRPr>
            </a:pPr>
            <a:r>
              <a:t>🎬 CỬ CHỈ: Giọng dõng dạc, mắt sáng, đưa tay chỉ về phía màn hình laptop đang mở Socrates Nhí.</a:t>
            </a:r>
          </a:p>
        </p:txBody>
      </p:sp>
      <p:sp>
        <p:nvSpPr>
          <p:cNvPr id="5" name="Rounded Rectangle 4"/>
          <p:cNvSpPr/>
          <p:nvPr/>
        </p:nvSpPr>
        <p:spPr>
          <a:xfrm>
            <a:off x="731520" y="1965960"/>
            <a:ext cx="10728655" cy="3977639"/>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320040"/>
          <a:lstStyle/>
          <a:p>
            <a:pPr algn="ctr">
              <a:defRPr sz="2100">
                <a:solidFill>
                  <a:srgbClr val="F8FAFC"/>
                </a:solidFill>
                <a:latin typeface="Calibri"/>
              </a:defRPr>
            </a:pPr>
            <a:r>
              <a:t>"Đứng trước thực trạng đó, nhóm chúng em tự hỏi: Tại sao không biến AI thành một người thầy gia sư kiên nhẫn, thay vì một chiếc máy làm bài hộ?</a:t>
            </a:r>
          </a:p>
          <a:p>
            <a:pPr>
              <a:spcBef>
                <a:spcPts val="1000"/>
              </a:spcBef>
              <a:defRPr sz="2100" b="1">
                <a:solidFill>
                  <a:srgbClr val="38BDF8"/>
                </a:solidFill>
                <a:latin typeface="Calibri"/>
              </a:defRPr>
            </a:pPr>
            <a:r>
              <a:t>Và đó chính là lý do Socrates Nhí ra đời với nguyên tắc cốt lõi: Tuyệt đối KHÔNG giải bài hộ, chỉ gợi mở để học sinh tự mình làm chủ tri thức!"</a:t>
            </a:r>
          </a:p>
        </p:txBody>
      </p:sp>
      <p:sp>
        <p:nvSpPr>
          <p:cNvPr id="6" name="TextBox 5"/>
          <p:cNvSpPr txBox="1"/>
          <p:nvPr/>
        </p:nvSpPr>
        <p:spPr>
          <a:xfrm>
            <a:off x="731520" y="6035040"/>
            <a:ext cx="10728655" cy="548640"/>
          </a:xfrm>
          <a:prstGeom prst="rect">
            <a:avLst/>
          </a:prstGeom>
          <a:noFill/>
        </p:spPr>
        <p:txBody>
          <a:bodyPr wrap="square" lIns="0" tIns="0">
            <a:spAutoFit/>
          </a:bodyPr>
          <a:lstStyle/>
          <a:p>
            <a:r>
              <a:rPr sz="1150" i="1">
                <a:solidFill>
                  <a:srgbClr val="4ADE80"/>
                </a:solidFill>
              </a:rPr>
              <a:t>⭐ Nhấn mạnh: 'Gia sư kiên nhẫn' và 'Tuyệt đối KHÔNG giải bài hộ'.</a:t>
            </a:r>
          </a:p>
          <a:p>
            <a:r>
              <a:rPr sz="1100" b="1">
                <a:solidFill>
                  <a:srgbClr val="94A3B8"/>
                </a:solidFill>
              </a:rPr>
              <a:t>Slide 4/14   |   [Bấm phím Space / Mũi tên phải ➡ để sang đoạn kế tiếp]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lIns="0" tIns="0">
            <a:spAutoFit/>
          </a:bodyPr>
          <a:lstStyle/>
          <a:p>
            <a:r>
              <a:rPr sz="1300" b="1">
                <a:solidFill>
                  <a:srgbClr val="38BDF8"/>
                </a:solidFill>
              </a:rPr>
              <a:t>PHẦN 2: Ý TƯỞNG CỐT LÕI &amp; PHƯƠNG PHÁP SƯ PHẠM (ĐOẠN 1/2)</a:t>
            </a:r>
            <a:r>
              <a:rPr sz="1300">
                <a:solidFill>
                  <a:srgbClr val="94A3B8"/>
                </a:solidFill>
              </a:rPr>
              <a:t>   |   </a:t>
            </a:r>
            <a:r>
              <a:rPr sz="1400" b="1">
                <a:solidFill>
                  <a:srgbClr val="FBBF24"/>
                </a:solidFill>
              </a:rPr>
              <a:t>⏱ 0:50 – 1:20 (30 giây)</a:t>
            </a:r>
          </a:p>
        </p:txBody>
      </p:sp>
      <p:sp>
        <p:nvSpPr>
          <p:cNvPr id="4" name="Rounded Rectangle 3"/>
          <p:cNvSpPr/>
          <p:nvPr/>
        </p:nvSpPr>
        <p:spPr>
          <a:xfrm>
            <a:off x="731520" y="1051560"/>
            <a:ext cx="10728655" cy="777240"/>
          </a:xfrm>
          <a:prstGeom prst="roundRect">
            <a:avLst/>
          </a:prstGeom>
          <a:solidFill>
            <a:srgbClr val="2D2314"/>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bIns="91440"/>
          <a:lstStyle/>
          <a:p>
            <a:pPr algn="ctr">
              <a:defRPr sz="1350" b="1">
                <a:solidFill>
                  <a:srgbClr val="FBBF24"/>
                </a:solidFill>
              </a:defRPr>
            </a:pPr>
            <a:r>
              <a:t>🎬 CỬ CHỈ: Xòe bàn tay đếm 5 ngón tương ứng 5 pha, giọng hào hứng và cuốn hút.</a:t>
            </a:r>
          </a:p>
        </p:txBody>
      </p:sp>
      <p:sp>
        <p:nvSpPr>
          <p:cNvPr id="5" name="Rounded Rectangle 4"/>
          <p:cNvSpPr/>
          <p:nvPr/>
        </p:nvSpPr>
        <p:spPr>
          <a:xfrm>
            <a:off x="731520" y="1965960"/>
            <a:ext cx="10728655" cy="3977639"/>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320040"/>
          <a:lstStyle/>
          <a:p>
            <a:pPr algn="ctr">
              <a:defRPr sz="2100">
                <a:solidFill>
                  <a:srgbClr val="F8FAFC"/>
                </a:solidFill>
                <a:latin typeface="Calibri"/>
              </a:defRPr>
            </a:pPr>
            <a:r>
              <a:t>"Để làm được điều đó, linh hồn của Socrates Nhí được xây dựng trên Chu trình Socratic 5 pha chuẩn mực sư phạm:</a:t>
            </a:r>
          </a:p>
          <a:p>
            <a:pPr>
              <a:spcBef>
                <a:spcPts val="1000"/>
              </a:spcBef>
              <a:defRPr sz="2100">
                <a:solidFill>
                  <a:srgbClr val="F8FAFC"/>
                </a:solidFill>
                <a:latin typeface="Calibri"/>
              </a:defRPr>
            </a:pPr>
            <a:r>
              <a:t>• Pha 1 - Làm rõ: Buộc học sinh phải tự bóc tách các dữ kiện đề bài đã cho.</a:t>
            </a:r>
          </a:p>
          <a:p>
            <a:pPr>
              <a:spcBef>
                <a:spcPts val="1000"/>
              </a:spcBef>
              <a:defRPr sz="2100">
                <a:solidFill>
                  <a:srgbClr val="F8FAFC"/>
                </a:solidFill>
                <a:latin typeface="Calibri"/>
              </a:defRPr>
            </a:pPr>
            <a:r>
              <a:t>• Pha 2 - Gợi nhớ: Gợi ý để học sinh tự nhớ lại khái niệm và công thức tương ứng.</a:t>
            </a:r>
          </a:p>
          <a:p>
            <a:pPr>
              <a:spcBef>
                <a:spcPts val="1000"/>
              </a:spcBef>
              <a:defRPr sz="2100">
                <a:solidFill>
                  <a:srgbClr val="F8FAFC"/>
                </a:solidFill>
                <a:latin typeface="Calibri"/>
              </a:defRPr>
            </a:pPr>
            <a:r>
              <a:t>• Pha 3 - Lập luận: Hướng dẫn đổi đơn vị và liên hệ các đại lượng.</a:t>
            </a:r>
          </a:p>
          <a:p>
            <a:pPr>
              <a:spcBef>
                <a:spcPts val="1000"/>
              </a:spcBef>
              <a:defRPr sz="2100">
                <a:solidFill>
                  <a:srgbClr val="F8FAFC"/>
                </a:solidFill>
                <a:latin typeface="Calibri"/>
              </a:defRPr>
            </a:pPr>
            <a:r>
              <a:t>• Pha 4 - Kiểm tra: Yêu cầu học sinh tự soát lại tính hợp lý của kết quả.</a:t>
            </a:r>
          </a:p>
          <a:p>
            <a:pPr>
              <a:spcBef>
                <a:spcPts val="1000"/>
              </a:spcBef>
              <a:defRPr sz="2100">
                <a:solidFill>
                  <a:srgbClr val="F8FAFC"/>
                </a:solidFill>
                <a:latin typeface="Calibri"/>
              </a:defRPr>
            </a:pPr>
            <a:r>
              <a:t>• Pha 5 - Tự đúc kết: Học sinh phải tự phát biểu quy tắc cốt lõi mới hoàn thành bài học."</a:t>
            </a:r>
          </a:p>
        </p:txBody>
      </p:sp>
      <p:sp>
        <p:nvSpPr>
          <p:cNvPr id="6" name="TextBox 5"/>
          <p:cNvSpPr txBox="1"/>
          <p:nvPr/>
        </p:nvSpPr>
        <p:spPr>
          <a:xfrm>
            <a:off x="731520" y="6035040"/>
            <a:ext cx="10728655" cy="548640"/>
          </a:xfrm>
          <a:prstGeom prst="rect">
            <a:avLst/>
          </a:prstGeom>
          <a:noFill/>
        </p:spPr>
        <p:txBody>
          <a:bodyPr wrap="square" lIns="0" tIns="0">
            <a:spAutoFit/>
          </a:bodyPr>
          <a:lstStyle/>
          <a:p>
            <a:r>
              <a:rPr sz="1150" i="1">
                <a:solidFill>
                  <a:srgbClr val="4ADE80"/>
                </a:solidFill>
              </a:rPr>
              <a:t>⭐ Đọc dứt khoát 5 pha: Làm rõ ➜ Gợi nhớ ➜ Lập luận ➜ Kiểm tra ➜ Tự đúc kết.</a:t>
            </a:r>
          </a:p>
          <a:p>
            <a:r>
              <a:rPr sz="1100" b="1">
                <a:solidFill>
                  <a:srgbClr val="94A3B8"/>
                </a:solidFill>
              </a:rPr>
              <a:t>Slide 5/14   |   [Bấm phím Space / Mũi tên phải ➡ để sang đoạn kế tiếp]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lIns="0" tIns="0">
            <a:spAutoFit/>
          </a:bodyPr>
          <a:lstStyle/>
          <a:p>
            <a:r>
              <a:rPr sz="1300" b="1">
                <a:solidFill>
                  <a:srgbClr val="38BDF8"/>
                </a:solidFill>
              </a:rPr>
              <a:t>PHẦN 2: Ý TƯỞNG CỐT LÕI &amp; PHƯƠNG PHÁP SƯ PHẠM (ĐOẠN 2/2)</a:t>
            </a:r>
            <a:r>
              <a:rPr sz="1300">
                <a:solidFill>
                  <a:srgbClr val="94A3B8"/>
                </a:solidFill>
              </a:rPr>
              <a:t>   |   </a:t>
            </a:r>
            <a:r>
              <a:rPr sz="1400" b="1">
                <a:solidFill>
                  <a:srgbClr val="FBBF24"/>
                </a:solidFill>
              </a:rPr>
              <a:t>⏱ 1:20 – 1:45 (25 giây)</a:t>
            </a:r>
          </a:p>
        </p:txBody>
      </p:sp>
      <p:sp>
        <p:nvSpPr>
          <p:cNvPr id="4" name="Rounded Rectangle 3"/>
          <p:cNvSpPr/>
          <p:nvPr/>
        </p:nvSpPr>
        <p:spPr>
          <a:xfrm>
            <a:off x="731520" y="1051560"/>
            <a:ext cx="10728655" cy="777240"/>
          </a:xfrm>
          <a:prstGeom prst="roundRect">
            <a:avLst/>
          </a:prstGeom>
          <a:solidFill>
            <a:srgbClr val="2D2314"/>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bIns="91440"/>
          <a:lstStyle/>
          <a:p>
            <a:pPr algn="ctr">
              <a:defRPr sz="1350" b="1">
                <a:solidFill>
                  <a:srgbClr val="FBBF24"/>
                </a:solidFill>
              </a:defRPr>
            </a:pPr>
            <a:r>
              <a:t>🎬 CỬ CHỈ: Giọng đĩnh đạc, tự tin, nhấn mạnh năng lực công nghệ và thuật toán.</a:t>
            </a:r>
          </a:p>
        </p:txBody>
      </p:sp>
      <p:sp>
        <p:nvSpPr>
          <p:cNvPr id="5" name="Rounded Rectangle 4"/>
          <p:cNvSpPr/>
          <p:nvPr/>
        </p:nvSpPr>
        <p:spPr>
          <a:xfrm>
            <a:off x="731520" y="1965960"/>
            <a:ext cx="10728655" cy="3977639"/>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320040"/>
          <a:lstStyle/>
          <a:p>
            <a:pPr algn="ctr">
              <a:defRPr sz="2100" b="1">
                <a:solidFill>
                  <a:srgbClr val="FBBF24"/>
                </a:solidFill>
                <a:latin typeface="Calibri"/>
              </a:defRPr>
            </a:pPr>
            <a:r>
              <a:t>"Đặc biệt, toàn bộ quá trình này không phải là AI chat ngẫu nhiên, mà được điều phối bởi một Máy trạng thái sư phạm (State Machine).</a:t>
            </a:r>
          </a:p>
          <a:p>
            <a:pPr>
              <a:spcBef>
                <a:spcPts val="1000"/>
              </a:spcBef>
              <a:defRPr sz="2100">
                <a:solidFill>
                  <a:srgbClr val="F8FAFC"/>
                </a:solidFill>
                <a:latin typeface="Calibri"/>
              </a:defRPr>
            </a:pPr>
            <a:r>
              <a:t>Hệ thống kiểm soát ma trận chuyển pha chặt chẽ: Tuyệt đối không nhảy cóc, không giới hạn số lượt gò bó, và sẵn sàng kiên trì hạ nhỏ câu hỏi thành các ví dụ đời sống gần gũi nếu bạn học sinh gặp bế tắc!"</a:t>
            </a:r>
          </a:p>
        </p:txBody>
      </p:sp>
      <p:sp>
        <p:nvSpPr>
          <p:cNvPr id="6" name="TextBox 5"/>
          <p:cNvSpPr txBox="1"/>
          <p:nvPr/>
        </p:nvSpPr>
        <p:spPr>
          <a:xfrm>
            <a:off x="731520" y="6035040"/>
            <a:ext cx="10728655" cy="548640"/>
          </a:xfrm>
          <a:prstGeom prst="rect">
            <a:avLst/>
          </a:prstGeom>
          <a:noFill/>
        </p:spPr>
        <p:txBody>
          <a:bodyPr wrap="square" lIns="0" tIns="0">
            <a:spAutoFit/>
          </a:bodyPr>
          <a:lstStyle/>
          <a:p>
            <a:r>
              <a:rPr sz="1150" i="1">
                <a:solidFill>
                  <a:srgbClr val="4ADE80"/>
                </a:solidFill>
              </a:rPr>
              <a:t>⭐ Điểm cộng kỹ thuật: 'Máy trạng thái sư phạm (State Machine)' điều phối thông minh.</a:t>
            </a:r>
          </a:p>
          <a:p>
            <a:r>
              <a:rPr sz="1100" b="1">
                <a:solidFill>
                  <a:srgbClr val="94A3B8"/>
                </a:solidFill>
              </a:rPr>
              <a:t>Slide 6/14   |   [Bấm phím Space / Mũi tên phải ➡ để sang đoạn kế tiếp]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lIns="0" tIns="0">
            <a:spAutoFit/>
          </a:bodyPr>
          <a:lstStyle/>
          <a:p>
            <a:r>
              <a:rPr sz="1300" b="1">
                <a:solidFill>
                  <a:srgbClr val="38BDF8"/>
                </a:solidFill>
              </a:rPr>
              <a:t>PHẦN 3: ĐỘT PHÁ CÔNG NGHỆ (ĐOẠN 1/2)</a:t>
            </a:r>
            <a:r>
              <a:rPr sz="1300">
                <a:solidFill>
                  <a:srgbClr val="94A3B8"/>
                </a:solidFill>
              </a:rPr>
              <a:t>   |   </a:t>
            </a:r>
            <a:r>
              <a:rPr sz="1400" b="1">
                <a:solidFill>
                  <a:srgbClr val="FBBF24"/>
                </a:solidFill>
              </a:rPr>
              <a:t>⏱ 1:45 – 2:20 (35 giây)</a:t>
            </a:r>
          </a:p>
        </p:txBody>
      </p:sp>
      <p:sp>
        <p:nvSpPr>
          <p:cNvPr id="4" name="Rounded Rectangle 3"/>
          <p:cNvSpPr/>
          <p:nvPr/>
        </p:nvSpPr>
        <p:spPr>
          <a:xfrm>
            <a:off x="731520" y="1051560"/>
            <a:ext cx="10728655" cy="777240"/>
          </a:xfrm>
          <a:prstGeom prst="roundRect">
            <a:avLst/>
          </a:prstGeom>
          <a:solidFill>
            <a:srgbClr val="2D2314"/>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bIns="91440"/>
          <a:lstStyle/>
          <a:p>
            <a:pPr algn="ctr">
              <a:defRPr sz="1350" b="1">
                <a:solidFill>
                  <a:srgbClr val="FBBF24"/>
                </a:solidFill>
              </a:defRPr>
            </a:pPr>
            <a:r>
              <a:t>🎬 CỬ CHỈ: Nghiêng người về phía laptop bên cạnh, tay chỉ vào khung chat minh họa.</a:t>
            </a:r>
          </a:p>
        </p:txBody>
      </p:sp>
      <p:sp>
        <p:nvSpPr>
          <p:cNvPr id="5" name="Rounded Rectangle 4"/>
          <p:cNvSpPr/>
          <p:nvPr/>
        </p:nvSpPr>
        <p:spPr>
          <a:xfrm>
            <a:off x="731520" y="1965960"/>
            <a:ext cx="10728655" cy="3977639"/>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320040"/>
          <a:lstStyle/>
          <a:p>
            <a:pPr algn="ctr">
              <a:defRPr sz="2100" b="1">
                <a:solidFill>
                  <a:srgbClr val="FBBF24"/>
                </a:solidFill>
                <a:latin typeface="Calibri"/>
              </a:defRPr>
            </a:pPr>
            <a:r>
              <a:t>"Để bảo vệ nguyên tắc 'không làm hộ', chúng em đã phát triển Khiên An Toàn Guardrail 3 Tầng độc quyền:</a:t>
            </a:r>
          </a:p>
          <a:p>
            <a:pPr>
              <a:spcBef>
                <a:spcPts val="1000"/>
              </a:spcBef>
              <a:defRPr sz="2100" b="1">
                <a:solidFill>
                  <a:srgbClr val="FBBF24"/>
                </a:solidFill>
                <a:latin typeface="Calibri"/>
              </a:defRPr>
            </a:pPr>
            <a:r>
              <a:t>Khi học sinh cố tình nài ép: 'Thầy cho em xin đáp số luôn đi' hay tìm cách bẻ khóa AI, cả 3 tầng: Tiền kiểm Prompt, Bộ lọc mẫu lộ đáp số và Hậu kiểm ngữ nghĩa sẽ chặn đứng 100%.</a:t>
            </a:r>
          </a:p>
          <a:p>
            <a:pPr>
              <a:spcBef>
                <a:spcPts val="1000"/>
              </a:spcBef>
              <a:defRPr sz="2100">
                <a:solidFill>
                  <a:srgbClr val="F8FAFC"/>
                </a:solidFill>
                <a:latin typeface="Calibri"/>
              </a:defRPr>
            </a:pPr>
            <a:r>
              <a:t>Thầy Socrates Nhí sẽ từ chối khéo léo nhưng rất thân thiện: 'Thầy không làm hộ đáp án cho em đâu nè, chúng mình cùng suy nghĩ từng bước nhé!' để kéo bạn quay lại bài học."</a:t>
            </a:r>
          </a:p>
        </p:txBody>
      </p:sp>
      <p:sp>
        <p:nvSpPr>
          <p:cNvPr id="6" name="TextBox 5"/>
          <p:cNvSpPr txBox="1"/>
          <p:nvPr/>
        </p:nvSpPr>
        <p:spPr>
          <a:xfrm>
            <a:off x="731520" y="6035040"/>
            <a:ext cx="10728655" cy="548640"/>
          </a:xfrm>
          <a:prstGeom prst="rect">
            <a:avLst/>
          </a:prstGeom>
          <a:noFill/>
        </p:spPr>
        <p:txBody>
          <a:bodyPr wrap="square" lIns="0" tIns="0">
            <a:spAutoFit/>
          </a:bodyPr>
          <a:lstStyle/>
          <a:p>
            <a:r>
              <a:rPr sz="1150" i="1">
                <a:solidFill>
                  <a:srgbClr val="4ADE80"/>
                </a:solidFill>
              </a:rPr>
              <a:t>⭐ Đổi tông giọng vui tươi, dễ thương khi đọc lời thoại của Thầy Socrates.</a:t>
            </a:r>
          </a:p>
          <a:p>
            <a:r>
              <a:rPr sz="1100" b="1">
                <a:solidFill>
                  <a:srgbClr val="94A3B8"/>
                </a:solidFill>
              </a:rPr>
              <a:t>Slide 7/14   |   [Bấm phím Space / Mũi tên phải ➡ để sang đoạn kế tiếp]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lIns="0" tIns="0">
            <a:spAutoFit/>
          </a:bodyPr>
          <a:lstStyle/>
          <a:p>
            <a:r>
              <a:rPr sz="1300" b="1">
                <a:solidFill>
                  <a:srgbClr val="38BDF8"/>
                </a:solidFill>
              </a:rPr>
              <a:t>PHẦN 3: ĐỘT PHÁ CÔNG NGHỆ (ĐOẠN 2/2)</a:t>
            </a:r>
            <a:r>
              <a:rPr sz="1300">
                <a:solidFill>
                  <a:srgbClr val="94A3B8"/>
                </a:solidFill>
              </a:rPr>
              <a:t>   |   </a:t>
            </a:r>
            <a:r>
              <a:rPr sz="1400" b="1">
                <a:solidFill>
                  <a:srgbClr val="FBBF24"/>
                </a:solidFill>
              </a:rPr>
              <a:t>⏱ 2:20 – 2:50 (30 giây)</a:t>
            </a:r>
          </a:p>
        </p:txBody>
      </p:sp>
      <p:sp>
        <p:nvSpPr>
          <p:cNvPr id="4" name="Rounded Rectangle 3"/>
          <p:cNvSpPr/>
          <p:nvPr/>
        </p:nvSpPr>
        <p:spPr>
          <a:xfrm>
            <a:off x="731520" y="1051560"/>
            <a:ext cx="10728655" cy="777240"/>
          </a:xfrm>
          <a:prstGeom prst="roundRect">
            <a:avLst/>
          </a:prstGeom>
          <a:solidFill>
            <a:srgbClr val="2D2314"/>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bIns="91440"/>
          <a:lstStyle/>
          <a:p>
            <a:pPr algn="ctr">
              <a:defRPr sz="1350" b="1">
                <a:solidFill>
                  <a:srgbClr val="FBBF24"/>
                </a:solidFill>
              </a:defRPr>
            </a:pPr>
            <a:r>
              <a:t>🎬 CỬ CHỈ: Mỉm cười tự tin, nói về tính năng thiết thực khi đi thi và mất mạng.</a:t>
            </a:r>
          </a:p>
        </p:txBody>
      </p:sp>
      <p:sp>
        <p:nvSpPr>
          <p:cNvPr id="5" name="Rounded Rectangle 4"/>
          <p:cNvSpPr/>
          <p:nvPr/>
        </p:nvSpPr>
        <p:spPr>
          <a:xfrm>
            <a:off x="731520" y="1965960"/>
            <a:ext cx="10728655" cy="3977639"/>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320040"/>
          <a:lstStyle/>
          <a:p>
            <a:pPr algn="ctr">
              <a:defRPr sz="2100">
                <a:solidFill>
                  <a:srgbClr val="F8FAFC"/>
                </a:solidFill>
                <a:latin typeface="Calibri"/>
              </a:defRPr>
            </a:pPr>
            <a:r>
              <a:t>"Một điểm sáng kỹ thuật thứ hai mà nhóm em rất tự hào là Chế độ Demo Offline 12 bài mẫu chuẩn SGK KHTN 7:</a:t>
            </a:r>
          </a:p>
          <a:p>
            <a:pPr>
              <a:spcBef>
                <a:spcPts val="1000"/>
              </a:spcBef>
              <a:defRPr sz="2100">
                <a:solidFill>
                  <a:srgbClr val="F8FAFC"/>
                </a:solidFill>
                <a:latin typeface="Calibri"/>
              </a:defRPr>
            </a:pPr>
            <a:r>
              <a:t>Chúng em hiểu rằng mạng Wifi tại hội trường thi hoặc các vùng khó khăn thường chập chờn. Vì vậy, Socrates Nhí đã đóng gói sẵn kho tri thức ngoại tuyến.</a:t>
            </a:r>
          </a:p>
          <a:p>
            <a:pPr>
              <a:spcBef>
                <a:spcPts val="1000"/>
              </a:spcBef>
              <a:defRPr sz="2100" b="1">
                <a:solidFill>
                  <a:srgbClr val="FBBF24"/>
                </a:solidFill>
                <a:latin typeface="Calibri"/>
              </a:defRPr>
            </a:pPr>
            <a:r>
              <a:t>Ngay khi mất mạng Internet, ứng dụng tự động chuyển sang chế độ Offline trong chớp mắt, phiên học vẫn diễn ra mượt mà 100% mà không bị treo hay gián đoạn!"</a:t>
            </a:r>
          </a:p>
        </p:txBody>
      </p:sp>
      <p:sp>
        <p:nvSpPr>
          <p:cNvPr id="6" name="TextBox 5"/>
          <p:cNvSpPr txBox="1"/>
          <p:nvPr/>
        </p:nvSpPr>
        <p:spPr>
          <a:xfrm>
            <a:off x="731520" y="6035040"/>
            <a:ext cx="10728655" cy="548640"/>
          </a:xfrm>
          <a:prstGeom prst="rect">
            <a:avLst/>
          </a:prstGeom>
          <a:noFill/>
        </p:spPr>
        <p:txBody>
          <a:bodyPr wrap="square" lIns="0" tIns="0">
            <a:spAutoFit/>
          </a:bodyPr>
          <a:lstStyle/>
          <a:p>
            <a:r>
              <a:rPr sz="1150" i="1">
                <a:solidFill>
                  <a:srgbClr val="4ADE80"/>
                </a:solidFill>
              </a:rPr>
              <a:t>⭐ Nhấn mạnh: 'Offline 12 bài SGK' — Hoạt động 100% không phụ thuộc Internet.</a:t>
            </a:r>
          </a:p>
          <a:p>
            <a:r>
              <a:rPr sz="1100" b="1">
                <a:solidFill>
                  <a:srgbClr val="94A3B8"/>
                </a:solidFill>
              </a:rPr>
              <a:t>Slide 8/14   |   [Bấm phím Space / Mũi tên phải ➡ để sang đoạn kế tiếp]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lIns="0" tIns="0">
            <a:spAutoFit/>
          </a:bodyPr>
          <a:lstStyle/>
          <a:p>
            <a:r>
              <a:rPr sz="1300" b="1">
                <a:solidFill>
                  <a:srgbClr val="38BDF8"/>
                </a:solidFill>
              </a:rPr>
              <a:t>PHẦN 4: THAO TÁC TRỰC QUAN TRÊN PHẦN MỀM (ĐOẠN 1/2)</a:t>
            </a:r>
            <a:r>
              <a:rPr sz="1300">
                <a:solidFill>
                  <a:srgbClr val="94A3B8"/>
                </a:solidFill>
              </a:rPr>
              <a:t>   |   </a:t>
            </a:r>
            <a:r>
              <a:rPr sz="1400" b="1">
                <a:solidFill>
                  <a:srgbClr val="FBBF24"/>
                </a:solidFill>
              </a:rPr>
              <a:t>⏱ 2:50 – 3:20 (30 giây)</a:t>
            </a:r>
          </a:p>
        </p:txBody>
      </p:sp>
      <p:sp>
        <p:nvSpPr>
          <p:cNvPr id="4" name="Rounded Rectangle 3"/>
          <p:cNvSpPr/>
          <p:nvPr/>
        </p:nvSpPr>
        <p:spPr>
          <a:xfrm>
            <a:off x="731520" y="1051560"/>
            <a:ext cx="10728655" cy="777240"/>
          </a:xfrm>
          <a:prstGeom prst="roundRect">
            <a:avLst/>
          </a:prstGeom>
          <a:solidFill>
            <a:srgbClr val="2D2314"/>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bIns="91440"/>
          <a:lstStyle/>
          <a:p>
            <a:pPr algn="ctr">
              <a:defRPr sz="1350" b="1">
                <a:solidFill>
                  <a:srgbClr val="FBBF24"/>
                </a:solidFill>
              </a:defRPr>
            </a:pPr>
            <a:r>
              <a:t>🎬 CỬ CHỈ: Đưa tay bấm nhẹ chuột chuyển tab Sơ đồ tư duy dạng nhánh trên laptop, nhìn lại camera.</a:t>
            </a:r>
          </a:p>
        </p:txBody>
      </p:sp>
      <p:sp>
        <p:nvSpPr>
          <p:cNvPr id="5" name="Rounded Rectangle 4"/>
          <p:cNvSpPr/>
          <p:nvPr/>
        </p:nvSpPr>
        <p:spPr>
          <a:xfrm>
            <a:off x="731520" y="1965960"/>
            <a:ext cx="10728655" cy="3977639"/>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320040"/>
          <a:lstStyle/>
          <a:p>
            <a:pPr algn="ctr">
              <a:defRPr sz="2100">
                <a:solidFill>
                  <a:srgbClr val="F8FAFC"/>
                </a:solidFill>
                <a:latin typeface="Calibri"/>
              </a:defRPr>
            </a:pPr>
            <a:r>
              <a:t>"Sau khi trải qua các câu hỏi gợi mở, điểm đến tuyệt vời nhất của học sinh là Trạm 5: Sơ đồ Tư duy Dạng Nhánh và Sổ tay Tự học.</a:t>
            </a:r>
          </a:p>
          <a:p>
            <a:pPr>
              <a:spcBef>
                <a:spcPts val="1000"/>
              </a:spcBef>
              <a:defRPr sz="2100">
                <a:solidFill>
                  <a:srgbClr val="F8FAFC"/>
                </a:solidFill>
                <a:latin typeface="Calibri"/>
              </a:defRPr>
            </a:pPr>
            <a:r>
              <a:t>Tại đây, một Cây trí tuệ KHTN 3 nhánh gồm: Hiện tượng dữ kiện, Định luật chuẩn SGK, và Bẫy sai lầm cần tránh sẽ được mở khóa.</a:t>
            </a:r>
          </a:p>
          <a:p>
            <a:pPr>
              <a:spcBef>
                <a:spcPts val="1000"/>
              </a:spcBef>
              <a:defRPr sz="2100">
                <a:solidFill>
                  <a:srgbClr val="F8FAFC"/>
                </a:solidFill>
                <a:latin typeface="Calibri"/>
              </a:defRPr>
            </a:pPr>
            <a:r>
              <a:t>Học sinh tự tay gõ 3 câu đúc kết bài học để lưu vĩnh viễn vào Sổ tay Tự học cá nhân của mình."</a:t>
            </a:r>
          </a:p>
        </p:txBody>
      </p:sp>
      <p:sp>
        <p:nvSpPr>
          <p:cNvPr id="6" name="TextBox 5"/>
          <p:cNvSpPr txBox="1"/>
          <p:nvPr/>
        </p:nvSpPr>
        <p:spPr>
          <a:xfrm>
            <a:off x="731520" y="6035040"/>
            <a:ext cx="10728655" cy="548640"/>
          </a:xfrm>
          <a:prstGeom prst="rect">
            <a:avLst/>
          </a:prstGeom>
          <a:noFill/>
        </p:spPr>
        <p:txBody>
          <a:bodyPr wrap="square" lIns="0" tIns="0">
            <a:spAutoFit/>
          </a:bodyPr>
          <a:lstStyle/>
          <a:p>
            <a:r>
              <a:rPr sz="1150" i="1">
                <a:solidFill>
                  <a:srgbClr val="4ADE80"/>
                </a:solidFill>
              </a:rPr>
              <a:t>⭐ Nhấn mạnh 3 nhánh: Hiện tượng dữ kiện ➜ Định luật SGK ➜ Bẫy sai lầm.</a:t>
            </a:r>
          </a:p>
          <a:p>
            <a:r>
              <a:rPr sz="1100" b="1">
                <a:solidFill>
                  <a:srgbClr val="94A3B8"/>
                </a:solidFill>
              </a:rPr>
              <a:t>Slide 9/14   |   [Bấm phím Space / Mũi tên phải ➡ để sang đoạn kế tiếp]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lIns="0" tIns="0">
            <a:spAutoFit/>
          </a:bodyPr>
          <a:lstStyle/>
          <a:p>
            <a:r>
              <a:rPr sz="1300" b="1">
                <a:solidFill>
                  <a:srgbClr val="38BDF8"/>
                </a:solidFill>
              </a:rPr>
              <a:t>PHẦN 4: THAO TÁC TRỰC QUAN TRÊN PHẦN MỀM (ĐOẠN 2/2)</a:t>
            </a:r>
            <a:r>
              <a:rPr sz="1300">
                <a:solidFill>
                  <a:srgbClr val="94A3B8"/>
                </a:solidFill>
              </a:rPr>
              <a:t>   |   </a:t>
            </a:r>
            <a:r>
              <a:rPr sz="1400" b="1">
                <a:solidFill>
                  <a:srgbClr val="FBBF24"/>
                </a:solidFill>
              </a:rPr>
              <a:t>⏱ 3:20 – 3:45 (25 giây)</a:t>
            </a:r>
          </a:p>
        </p:txBody>
      </p:sp>
      <p:sp>
        <p:nvSpPr>
          <p:cNvPr id="4" name="Rounded Rectangle 3"/>
          <p:cNvSpPr/>
          <p:nvPr/>
        </p:nvSpPr>
        <p:spPr>
          <a:xfrm>
            <a:off x="731520" y="1051560"/>
            <a:ext cx="10728655" cy="777240"/>
          </a:xfrm>
          <a:prstGeom prst="roundRect">
            <a:avLst/>
          </a:prstGeom>
          <a:solidFill>
            <a:srgbClr val="2D2314"/>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bIns="91440"/>
          <a:lstStyle/>
          <a:p>
            <a:pPr algn="ctr">
              <a:defRPr sz="1350" b="1">
                <a:solidFill>
                  <a:srgbClr val="FBBF24"/>
                </a:solidFill>
              </a:defRPr>
            </a:pPr>
            <a:r>
              <a:t>🎬 CỬ CHỈ: Chỉ tay vào biểu tượng Micro và nút Nhận diện hình ảnh OCR trên màn hình.</a:t>
            </a:r>
          </a:p>
        </p:txBody>
      </p:sp>
      <p:sp>
        <p:nvSpPr>
          <p:cNvPr id="5" name="Rounded Rectangle 4"/>
          <p:cNvSpPr/>
          <p:nvPr/>
        </p:nvSpPr>
        <p:spPr>
          <a:xfrm>
            <a:off x="731520" y="1965960"/>
            <a:ext cx="10728655" cy="3977639"/>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320040"/>
          <a:lstStyle/>
          <a:p>
            <a:pPr algn="ctr">
              <a:defRPr sz="2100">
                <a:solidFill>
                  <a:srgbClr val="F8FAFC"/>
                </a:solidFill>
                <a:latin typeface="Calibri"/>
              </a:defRPr>
            </a:pPr>
            <a:r>
              <a:t>"Bên cạnh đó, ứng dụng còn hỗ trợ nhập đề đa phương thức: từ chụp ảnh trích xuất OCR công thức toán lý hóa,</a:t>
            </a:r>
          </a:p>
          <a:p>
            <a:pPr>
              <a:spcBef>
                <a:spcPts val="1000"/>
              </a:spcBef>
              <a:defRPr sz="2100">
                <a:solidFill>
                  <a:srgbClr val="F8FAFC"/>
                </a:solidFill>
                <a:latin typeface="Calibri"/>
              </a:defRPr>
            </a:pPr>
            <a:r>
              <a:t>cho đến Nhận diện giọng nói tiếng Việt tự động chuẩn hóa thuật ngữ KHTN, giúp các bạn học sinh thao tác cực kỳ nhanh chóng và tiện lợi."</a:t>
            </a:r>
          </a:p>
        </p:txBody>
      </p:sp>
      <p:sp>
        <p:nvSpPr>
          <p:cNvPr id="6" name="TextBox 5"/>
          <p:cNvSpPr txBox="1"/>
          <p:nvPr/>
        </p:nvSpPr>
        <p:spPr>
          <a:xfrm>
            <a:off x="731520" y="6035040"/>
            <a:ext cx="10728655" cy="548640"/>
          </a:xfrm>
          <a:prstGeom prst="rect">
            <a:avLst/>
          </a:prstGeom>
          <a:noFill/>
        </p:spPr>
        <p:txBody>
          <a:bodyPr wrap="square" lIns="0" tIns="0">
            <a:spAutoFit/>
          </a:bodyPr>
          <a:lstStyle/>
          <a:p>
            <a:r>
              <a:rPr sz="1150" i="1">
                <a:solidFill>
                  <a:srgbClr val="4ADE80"/>
                </a:solidFill>
              </a:rPr>
              <a:t>⭐ Nhấn mạnh: 'Tự động chuẩn hóa thuật ngữ KHTN' (thay vì nói nhận diện chưa chuẩn).</a:t>
            </a:r>
          </a:p>
          <a:p>
            <a:r>
              <a:rPr sz="1100" b="1">
                <a:solidFill>
                  <a:srgbClr val="94A3B8"/>
                </a:solidFill>
              </a:rPr>
              <a:t>Slide 10/14   |   [Bấm phím Space / Mũi tên phải ➡ để sang đoạn kế tiếp]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lIns="0" tIns="0">
            <a:spAutoFit/>
          </a:bodyPr>
          <a:lstStyle/>
          <a:p>
            <a:r>
              <a:rPr sz="1300" b="1">
                <a:solidFill>
                  <a:srgbClr val="38BDF8"/>
                </a:solidFill>
              </a:rPr>
              <a:t>PHẦN 5: KẾT QUẢ THỰC NGHIỆM &amp; ĐẠO ĐỨC AI (ĐOẠN 1/2)</a:t>
            </a:r>
            <a:r>
              <a:rPr sz="1300">
                <a:solidFill>
                  <a:srgbClr val="94A3B8"/>
                </a:solidFill>
              </a:rPr>
              <a:t>   |   </a:t>
            </a:r>
            <a:r>
              <a:rPr sz="1400" b="1">
                <a:solidFill>
                  <a:srgbClr val="FBBF24"/>
                </a:solidFill>
              </a:rPr>
              <a:t>⏱ 3:45 – 4:10 (25 giây)</a:t>
            </a:r>
          </a:p>
        </p:txBody>
      </p:sp>
      <p:sp>
        <p:nvSpPr>
          <p:cNvPr id="4" name="Rounded Rectangle 3"/>
          <p:cNvSpPr/>
          <p:nvPr/>
        </p:nvSpPr>
        <p:spPr>
          <a:xfrm>
            <a:off x="731520" y="1051560"/>
            <a:ext cx="10728655" cy="777240"/>
          </a:xfrm>
          <a:prstGeom prst="roundRect">
            <a:avLst/>
          </a:prstGeom>
          <a:solidFill>
            <a:srgbClr val="2D2314"/>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bIns="91440"/>
          <a:lstStyle/>
          <a:p>
            <a:pPr algn="ctr">
              <a:defRPr sz="1350" b="1">
                <a:solidFill>
                  <a:srgbClr val="FBBF24"/>
                </a:solidFill>
              </a:defRPr>
            </a:pPr>
            <a:r>
              <a:t>🎬 CỬ CHỈ: Giọng tự hào, nói rõ ràng và nhấn mạnh từng con số thống kê ấn tượng.</a:t>
            </a:r>
          </a:p>
        </p:txBody>
      </p:sp>
      <p:sp>
        <p:nvSpPr>
          <p:cNvPr id="5" name="Rounded Rectangle 4"/>
          <p:cNvSpPr/>
          <p:nvPr/>
        </p:nvSpPr>
        <p:spPr>
          <a:xfrm>
            <a:off x="731520" y="1965960"/>
            <a:ext cx="10728655" cy="3977639"/>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320040"/>
          <a:lstStyle/>
          <a:p>
            <a:pPr algn="ctr">
              <a:defRPr sz="2100">
                <a:solidFill>
                  <a:srgbClr val="F8FAFC"/>
                </a:solidFill>
                <a:latin typeface="Calibri"/>
              </a:defRPr>
            </a:pPr>
            <a:r>
              <a:t>"Dự án của chúng em đã được thử nghiệm thực tế trên 15 bạn học sinh THCS với những kết quả rất ấn tượng:</a:t>
            </a:r>
          </a:p>
          <a:p>
            <a:pPr>
              <a:spcBef>
                <a:spcPts val="1000"/>
              </a:spcBef>
              <a:defRPr sz="2100" b="1">
                <a:solidFill>
                  <a:srgbClr val="FBBF24"/>
                </a:solidFill>
                <a:latin typeface="Calibri"/>
              </a:defRPr>
            </a:pPr>
            <a:r>
              <a:t>• 100% các cuộc thử nghiệm nài ép xin đáp số đều bị Khiên Guardrail chặn đứng.</a:t>
            </a:r>
          </a:p>
          <a:p>
            <a:pPr>
              <a:spcBef>
                <a:spcPts val="1000"/>
              </a:spcBef>
              <a:defRPr sz="2100" b="1">
                <a:solidFill>
                  <a:srgbClr val="FBBF24"/>
                </a:solidFill>
                <a:latin typeface="Calibri"/>
              </a:defRPr>
            </a:pPr>
            <a:r>
              <a:t>• 86.7% học sinh tự mình tìm ra kết quả đúng sau chu trình gợi mở.</a:t>
            </a:r>
          </a:p>
          <a:p>
            <a:pPr>
              <a:spcBef>
                <a:spcPts val="1000"/>
              </a:spcBef>
              <a:defRPr sz="2100" b="1">
                <a:solidFill>
                  <a:srgbClr val="FBBF24"/>
                </a:solidFill>
                <a:latin typeface="Calibri"/>
              </a:defRPr>
            </a:pPr>
            <a:r>
              <a:t>• 80% học sinh đạt chuẩn tiến bộ lập luận theo Phiếu chấm Rubric sư phạm 3 tiêu chí.</a:t>
            </a:r>
          </a:p>
          <a:p>
            <a:pPr>
              <a:spcBef>
                <a:spcPts val="1000"/>
              </a:spcBef>
              <a:defRPr sz="2100">
                <a:solidFill>
                  <a:srgbClr val="F8FAFC"/>
                </a:solidFill>
                <a:latin typeface="Calibri"/>
              </a:defRPr>
            </a:pPr>
            <a:r>
              <a:t>• Tốc độ phản hồi cực nhanh, chỉ từ 2.5 đến 3.5 giây mỗi lượt."</a:t>
            </a:r>
          </a:p>
        </p:txBody>
      </p:sp>
      <p:sp>
        <p:nvSpPr>
          <p:cNvPr id="6" name="TextBox 5"/>
          <p:cNvSpPr txBox="1"/>
          <p:nvPr/>
        </p:nvSpPr>
        <p:spPr>
          <a:xfrm>
            <a:off x="731520" y="6035040"/>
            <a:ext cx="10728655" cy="548640"/>
          </a:xfrm>
          <a:prstGeom prst="rect">
            <a:avLst/>
          </a:prstGeom>
          <a:noFill/>
        </p:spPr>
        <p:txBody>
          <a:bodyPr wrap="square" lIns="0" tIns="0">
            <a:spAutoFit/>
          </a:bodyPr>
          <a:lstStyle/>
          <a:p>
            <a:r>
              <a:rPr sz="1150" i="1">
                <a:solidFill>
                  <a:srgbClr val="4ADE80"/>
                </a:solidFill>
              </a:rPr>
              <a:t>⭐ Đọc dõng dạc 4 con số: 100% chặn xin đáp án, 86.7% giải đúng, 80% đạt Rubric, 2.5 - 3.5 giây.</a:t>
            </a:r>
          </a:p>
          <a:p>
            <a:r>
              <a:rPr sz="1100" b="1">
                <a:solidFill>
                  <a:srgbClr val="94A3B8"/>
                </a:solidFill>
              </a:rPr>
              <a:t>Slide 11/14   |   [Bấm phím Space / Mũi tên phải ➡ để sang đoạn kế tiếp]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lIns="0" tIns="0">
            <a:spAutoFit/>
          </a:bodyPr>
          <a:lstStyle/>
          <a:p>
            <a:r>
              <a:rPr sz="1300" b="1">
                <a:solidFill>
                  <a:srgbClr val="38BDF8"/>
                </a:solidFill>
              </a:rPr>
              <a:t>PHẦN 5: KẾT QUẢ THỰC NGHIỆM &amp; ĐẠO ĐỨC AI (ĐOẠN 2/2)</a:t>
            </a:r>
            <a:r>
              <a:rPr sz="1300">
                <a:solidFill>
                  <a:srgbClr val="94A3B8"/>
                </a:solidFill>
              </a:rPr>
              <a:t>   |   </a:t>
            </a:r>
            <a:r>
              <a:rPr sz="1400" b="1">
                <a:solidFill>
                  <a:srgbClr val="FBBF24"/>
                </a:solidFill>
              </a:rPr>
              <a:t>⏱ 4:10 – 4:30 (20 giây)</a:t>
            </a:r>
          </a:p>
        </p:txBody>
      </p:sp>
      <p:sp>
        <p:nvSpPr>
          <p:cNvPr id="4" name="Rounded Rectangle 3"/>
          <p:cNvSpPr/>
          <p:nvPr/>
        </p:nvSpPr>
        <p:spPr>
          <a:xfrm>
            <a:off x="731520" y="1051560"/>
            <a:ext cx="10728655" cy="777240"/>
          </a:xfrm>
          <a:prstGeom prst="roundRect">
            <a:avLst/>
          </a:prstGeom>
          <a:solidFill>
            <a:srgbClr val="2D2314"/>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bIns="91440"/>
          <a:lstStyle/>
          <a:p>
            <a:pPr algn="ctr">
              <a:defRPr sz="1350" b="1">
                <a:solidFill>
                  <a:srgbClr val="FBBF24"/>
                </a:solidFill>
              </a:defRPr>
            </a:pPr>
            <a:r>
              <a:t>🎬 CỬ CHỈ: Nét mặt chân thành, nhấn mạnh yếu tố an toàn và bảo mật cho học sinh.</a:t>
            </a:r>
          </a:p>
        </p:txBody>
      </p:sp>
      <p:sp>
        <p:nvSpPr>
          <p:cNvPr id="5" name="Rounded Rectangle 4"/>
          <p:cNvSpPr/>
          <p:nvPr/>
        </p:nvSpPr>
        <p:spPr>
          <a:xfrm>
            <a:off x="731520" y="1965960"/>
            <a:ext cx="10728655" cy="3977639"/>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320040"/>
          <a:lstStyle/>
          <a:p>
            <a:pPr algn="ctr">
              <a:defRPr sz="2100">
                <a:solidFill>
                  <a:srgbClr val="F8FAFC"/>
                </a:solidFill>
                <a:latin typeface="Calibri"/>
              </a:defRPr>
            </a:pPr>
            <a:r>
              <a:t>"Đặc biệt, là học sinh THCS, chúng em cam kết Đạo đức AI cao nhất:</a:t>
            </a:r>
          </a:p>
          <a:p>
            <a:pPr>
              <a:spcBef>
                <a:spcPts val="1000"/>
              </a:spcBef>
              <a:defRPr sz="2100">
                <a:solidFill>
                  <a:srgbClr val="F8FAFC"/>
                </a:solidFill>
                <a:latin typeface="Calibri"/>
              </a:defRPr>
            </a:pPr>
            <a:r>
              <a:t>Ứng dụng hoàn toàn ẩn danh, không thu thập họ tên thật, lớp học hay số điện thoại;</a:t>
            </a:r>
          </a:p>
          <a:p>
            <a:pPr>
              <a:spcBef>
                <a:spcPts val="1000"/>
              </a:spcBef>
              <a:defRPr sz="2100">
                <a:solidFill>
                  <a:srgbClr val="F8FAFC"/>
                </a:solidFill>
                <a:latin typeface="Calibri"/>
              </a:defRPr>
            </a:pPr>
            <a:r>
              <a:t>tự động xóa ảnh tạm đề bài và công khai minh bạch toàn bộ nhật ký Prompt!"</a:t>
            </a:r>
          </a:p>
        </p:txBody>
      </p:sp>
      <p:sp>
        <p:nvSpPr>
          <p:cNvPr id="6" name="TextBox 5"/>
          <p:cNvSpPr txBox="1"/>
          <p:nvPr/>
        </p:nvSpPr>
        <p:spPr>
          <a:xfrm>
            <a:off x="731520" y="6035040"/>
            <a:ext cx="10728655" cy="548640"/>
          </a:xfrm>
          <a:prstGeom prst="rect">
            <a:avLst/>
          </a:prstGeom>
          <a:noFill/>
        </p:spPr>
        <p:txBody>
          <a:bodyPr wrap="square" lIns="0" tIns="0">
            <a:spAutoFit/>
          </a:bodyPr>
          <a:lstStyle/>
          <a:p>
            <a:r>
              <a:rPr sz="1150" i="1">
                <a:solidFill>
                  <a:srgbClr val="4ADE80"/>
                </a:solidFill>
              </a:rPr>
              <a:t>⭐ Rất quan trọng: Giám khảo AI đánh giá cực cao tính Ẩn danh và Đạo đức AI.</a:t>
            </a:r>
          </a:p>
          <a:p>
            <a:r>
              <a:rPr sz="1100" b="1">
                <a:solidFill>
                  <a:srgbClr val="94A3B8"/>
                </a:solidFill>
              </a:rPr>
              <a:t>Slide 12/14   |   [Bấm phím Space / Mũi tên phải ➡ để sang đoạn kế tiếp]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square" lIns="0" tIns="0">
            <a:spAutoFit/>
          </a:bodyPr>
          <a:lstStyle/>
          <a:p>
            <a:r>
              <a:rPr sz="1300" b="1">
                <a:solidFill>
                  <a:srgbClr val="38BDF8"/>
                </a:solidFill>
              </a:rPr>
              <a:t>PHẦN 6: KẾT LUẬN &amp; THÔNG ĐIỆP Ý NGHĨA</a:t>
            </a:r>
            <a:r>
              <a:rPr sz="1300">
                <a:solidFill>
                  <a:srgbClr val="94A3B8"/>
                </a:solidFill>
              </a:rPr>
              <a:t>   |   </a:t>
            </a:r>
            <a:r>
              <a:rPr sz="1400" b="1">
                <a:solidFill>
                  <a:srgbClr val="FBBF24"/>
                </a:solidFill>
              </a:rPr>
              <a:t>⏱ 4:30 – 4:45 (15 giây)</a:t>
            </a:r>
          </a:p>
        </p:txBody>
      </p:sp>
      <p:sp>
        <p:nvSpPr>
          <p:cNvPr id="4" name="Rounded Rectangle 3"/>
          <p:cNvSpPr/>
          <p:nvPr/>
        </p:nvSpPr>
        <p:spPr>
          <a:xfrm>
            <a:off x="731520" y="1051560"/>
            <a:ext cx="10728655" cy="777240"/>
          </a:xfrm>
          <a:prstGeom prst="roundRect">
            <a:avLst/>
          </a:prstGeom>
          <a:solidFill>
            <a:srgbClr val="2D2314"/>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bIns="91440"/>
          <a:lstStyle/>
          <a:p>
            <a:pPr algn="ctr">
              <a:defRPr sz="1350" b="1">
                <a:solidFill>
                  <a:srgbClr val="FBBF24"/>
                </a:solidFill>
              </a:defRPr>
            </a:pPr>
            <a:r>
              <a:t>🎬 CỬ CHỈ: Đứng thẳng người, mắt nhìn sâu vào ống kính, giọng ấm áp và truyền cảm hứng. Cúi chào kết thúc.</a:t>
            </a:r>
          </a:p>
        </p:txBody>
      </p:sp>
      <p:sp>
        <p:nvSpPr>
          <p:cNvPr id="5" name="Rounded Rectangle 4"/>
          <p:cNvSpPr/>
          <p:nvPr/>
        </p:nvSpPr>
        <p:spPr>
          <a:xfrm>
            <a:off x="731520" y="1965960"/>
            <a:ext cx="10728655" cy="3977639"/>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320040"/>
          <a:lstStyle/>
          <a:p>
            <a:pPr algn="ctr">
              <a:defRPr sz="2100">
                <a:solidFill>
                  <a:srgbClr val="F8FAFC"/>
                </a:solidFill>
                <a:latin typeface="Calibri"/>
              </a:defRPr>
            </a:pPr>
            <a:r>
              <a:t>"Kính thưa Ban Giám khảo! Chúng em tin rằng:</a:t>
            </a:r>
          </a:p>
          <a:p>
            <a:pPr>
              <a:spcBef>
                <a:spcPts val="1000"/>
              </a:spcBef>
              <a:defRPr sz="2100" b="1">
                <a:solidFill>
                  <a:srgbClr val="38BDF8"/>
                </a:solidFill>
                <a:latin typeface="Calibri"/>
              </a:defRPr>
            </a:pPr>
            <a:r>
              <a:t>'Socrates Nhí không tạo ra những học sinh giỏi chép bài, mà nuôi dưỡng những bộ óc biết hoài nghi, biết suy nghĩ và tự mình khám phá chân lý khoa học!'</a:t>
            </a:r>
          </a:p>
          <a:p>
            <a:pPr>
              <a:spcBef>
                <a:spcPts val="1000"/>
              </a:spcBef>
              <a:defRPr sz="2100">
                <a:solidFill>
                  <a:srgbClr val="F8FAFC"/>
                </a:solidFill>
                <a:latin typeface="Calibri"/>
              </a:defRPr>
            </a:pPr>
            <a:r>
              <a:t>Em xin chân thành cảm ơn Quý Ban Giám khảo và các thầy cô giáo đã lắng nghe! Chúng em rất mong nhận được những góp ý quý báu từ Hội đồng Giám khảo! Em xin trân trọng cảm ơn! 💐"</a:t>
            </a:r>
          </a:p>
        </p:txBody>
      </p:sp>
      <p:sp>
        <p:nvSpPr>
          <p:cNvPr id="6" name="TextBox 5"/>
          <p:cNvSpPr txBox="1"/>
          <p:nvPr/>
        </p:nvSpPr>
        <p:spPr>
          <a:xfrm>
            <a:off x="731520" y="6035040"/>
            <a:ext cx="10728655" cy="548640"/>
          </a:xfrm>
          <a:prstGeom prst="rect">
            <a:avLst/>
          </a:prstGeom>
          <a:noFill/>
        </p:spPr>
        <p:txBody>
          <a:bodyPr wrap="square" lIns="0" tIns="0">
            <a:spAutoFit/>
          </a:bodyPr>
          <a:lstStyle/>
          <a:p>
            <a:r>
              <a:rPr sz="1150" i="1">
                <a:solidFill>
                  <a:srgbClr val="4ADE80"/>
                </a:solidFill>
              </a:rPr>
              <a:t>⭐ Đọc câu châm ngôn thật chậm rãi, lắng đọng. Cúi đầu chào tươi cười 2 giây cuối.</a:t>
            </a:r>
          </a:p>
          <a:p>
            <a:r>
              <a:rPr sz="1100" b="1">
                <a:solidFill>
                  <a:srgbClr val="94A3B8"/>
                </a:solidFill>
              </a:rPr>
              <a:t>Slide 13/14   |   [Bấm phím Space / Mũi tên phải ➡ để sang đoạn kế tiếp]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62895" cy="1097280"/>
          </a:xfrm>
          <a:prstGeom prst="rect">
            <a:avLst/>
          </a:prstGeom>
          <a:noFill/>
        </p:spPr>
        <p:txBody>
          <a:bodyPr wrap="none">
            <a:spAutoFit/>
          </a:bodyPr>
          <a:lstStyle/>
          <a:p>
            <a:pPr>
              <a:defRPr sz="2400" b="1">
                <a:solidFill>
                  <a:srgbClr val="FBBF24"/>
                </a:solidFill>
              </a:defRPr>
            </a:pPr>
            <a:r>
              <a:t>⭐ 4 LƯU Ý 'VÀNG' KHI BẤM MÁY QUAY VIDEO THỰC TẾ</a:t>
            </a:r>
          </a:p>
        </p:txBody>
      </p:sp>
      <p:sp>
        <p:nvSpPr>
          <p:cNvPr id="4" name="Rounded Rectangle 3"/>
          <p:cNvSpPr/>
          <p:nvPr/>
        </p:nvSpPr>
        <p:spPr>
          <a:xfrm>
            <a:off x="914400" y="1737360"/>
            <a:ext cx="10362895" cy="1005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tIns="164592"/>
          <a:lstStyle/>
          <a:p>
            <a:pPr algn="ctr"/>
            <a:r>
              <a:rPr sz="1600" b="1">
                <a:solidFill>
                  <a:srgbClr val="38BDF8"/>
                </a:solidFill>
              </a:rPr>
              <a:t>1. Phát âm chuẩn tên dự án: </a:t>
            </a:r>
            <a:r>
              <a:rPr sz="1500">
                <a:solidFill>
                  <a:srgbClr val="F8FAFC"/>
                </a:solidFill>
              </a:rPr>
              <a:t>Đọc là 'Xô-crat Nhí' hoặc 'So-cra-tes Nhí' (tránh phát âm nhầm thành 'software technique').</a:t>
            </a:r>
          </a:p>
        </p:txBody>
      </p:sp>
      <p:sp>
        <p:nvSpPr>
          <p:cNvPr id="5" name="Rounded Rectangle 4"/>
          <p:cNvSpPr/>
          <p:nvPr/>
        </p:nvSpPr>
        <p:spPr>
          <a:xfrm>
            <a:off x="914400" y="2926080"/>
            <a:ext cx="10362895" cy="1005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tIns="164592"/>
          <a:lstStyle/>
          <a:p>
            <a:pPr algn="ctr"/>
            <a:r>
              <a:rPr sz="1600" b="1">
                <a:solidFill>
                  <a:srgbClr val="38BDF8"/>
                </a:solidFill>
              </a:rPr>
              <a:t>2. Xưng hô chuẩn mực: </a:t>
            </a:r>
            <a:r>
              <a:rPr sz="1500">
                <a:solidFill>
                  <a:srgbClr val="F8FAFC"/>
                </a:solidFill>
              </a:rPr>
              <a:t>Luôn dùng cụm từ 'Gia sư Socrates' (thay vì nói 'giáo sư').</a:t>
            </a:r>
          </a:p>
        </p:txBody>
      </p:sp>
      <p:sp>
        <p:nvSpPr>
          <p:cNvPr id="6" name="Rounded Rectangle 5"/>
          <p:cNvSpPr/>
          <p:nvPr/>
        </p:nvSpPr>
        <p:spPr>
          <a:xfrm>
            <a:off x="914400" y="4114800"/>
            <a:ext cx="10362895" cy="1005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tIns="164592"/>
          <a:lstStyle/>
          <a:p>
            <a:pPr algn="ctr"/>
            <a:r>
              <a:rPr sz="1600" b="1">
                <a:solidFill>
                  <a:srgbClr val="38BDF8"/>
                </a:solidFill>
              </a:rPr>
              <a:t>3. Tính năng giọng nói: </a:t>
            </a:r>
            <a:r>
              <a:rPr sz="1500">
                <a:solidFill>
                  <a:srgbClr val="F8FAFC"/>
                </a:solidFill>
              </a:rPr>
              <a:t>Khi nhắc tới giọng nói, hãy nói: 'Hệ thống tự động chuẩn hóa thuật ngữ KHTN' (thay vì nhận xét 'chưa bắt chuẩn').</a:t>
            </a:r>
          </a:p>
        </p:txBody>
      </p:sp>
      <p:sp>
        <p:nvSpPr>
          <p:cNvPr id="7" name="Rounded Rectangle 6"/>
          <p:cNvSpPr/>
          <p:nvPr/>
        </p:nvSpPr>
        <p:spPr>
          <a:xfrm>
            <a:off x="914400" y="5303520"/>
            <a:ext cx="10362895" cy="10058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tIns="164592"/>
          <a:lstStyle/>
          <a:p>
            <a:pPr algn="ctr"/>
            <a:r>
              <a:rPr sz="1600" b="1">
                <a:solidFill>
                  <a:srgbClr val="38BDF8"/>
                </a:solidFill>
              </a:rPr>
              <a:t>4. Ánh sáng &amp; Thu âm: </a:t>
            </a:r>
            <a:r>
              <a:rPr sz="1500">
                <a:solidFill>
                  <a:srgbClr val="F8FAFC"/>
                </a:solidFill>
              </a:rPr>
              <a:t>Ngồi đối diện cửa sổ hoặc đèn bàn (tránh ngược sáng). Cắm tai nghe có mic để giọng thu vào thật ấm, rõ ràng, không bị tiếng quạt.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