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[0:00 - 0:30] Kính chào Quý Ban Giám khảo và các thầy cô giáo! Em xin đại diện nhóm tác giả Bảng A trình bày dự án 'Socrates Nhí 💡 - Trợ lý AI gợi mở tư duy Khoa học Tự nhiên THCS theo phương pháp Vấn đáp Socratic'. Sứ mệnh của chúng em là biến AI từ một công cụ giải hộ thụ động thành một người thầy đồng hành, giúp học sinh tự tư duy và làm chủ tri thức.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[0:30 - 1:15] Thưa thầy cô, hiện nay khi gặp bài toán KHTN khó, đa số học sinh đều chụp ảnh gửi cho AI để lấy lời giải sẵn rồi chép vào vở. Điều này tạo nên một nghịch lý nguy hiểm: AI càng giỏi, học sinh càng lười suy nghĩ. Socrates Nhí ra đời với triết lý hoàn toàn ngược lại: Tuyệt đối không làm bài hộ! Chúng em ứng dụng phương pháp vấn đáp Socratic để kiên trì đặt câu hỏi gợi mở, giúp các bạn tự tìm ra lời giải và làm chủ kiến thức.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[1:15 - 2:00] Điểm cốt lõi trong phương pháp của Socrates Nhí là chu trình 5 pha sư phạm: Từ Làm rõ dữ kiện, Gợi nhớ kiến thức, Dẫn dắt lập luận, Kiểm tra và Đúc kết. Quá trình này được kiểm soát bởi một bộ máy trạng thái (State Machine) với ma trận chuyển pha chặt chẽ: Không bao giờ nhảy cóc, không giới hạn số lượt gò bó, và sẽ hạ độ khó nếu học sinh bế tắc.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[2:00 - 2:45] Toàn bộ hệ thống Socrates Nhí được thiết kế thành một chu trình 5 trạm khép kín: Từ nhập đề đa phương thức (gõ phím, chụp ảnh OCR, giọng nói), đến phòng chat Socratic với khiên Guardrail bảo vệ, kết thúc bằng Sơ đồ tư duy dạng nhánh và Phiếu chấm Rubric tiến bộ. Đặc biệt, hệ thống phản hồi cực nhanh chỉ 2.5 đến 3.5 giây mỗi lượt.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[2:45 - 3:30] Hai bước đột phá kỹ thuật nổi bật nhất của chúng em là: Thứ nhất, Khiên Guardrail 3 tầng độc quyền: Chặn đứng hoàn toàn mọi hành vi xin đáp số hay bẻ khóa AI (Jailbreak). Thứ hai, Chế độ Demo Offline 12 bài mẫu: Nếu hội trường mất mạng, Socrates Nhí vẫn hoạt động mượt mà 100% nhờ kho dữ liệu cache chuẩn sư phạm, không bao giờ bị phụ thuộc hoàn toàn vào Internet.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[3:30 - 4:15] Sản phẩm của chúng em không chỉ dừng lại ở lý thuyết mà đã được kiểm chứng thực tế: Thử nghiệm trên 15 học sinh THCS cho thấy: 100% chặn đứng rò rỉ đáp số, 86.7% các bạn tự giải đúng sau gợi mở, và 80% đạt chuẩn tiến bộ theo Phiếu chấm Rubric sư phạm. Tốc độ phản hồi chỉ 2.8 giây mỗi lượt.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[4:15 - 4:40] Là học sinh THCS tham gia cuộc thi AI, chúng em đặt yếu tố Đạo đức AI lên hàng đầu: Socrates Nhí cam kết ẩn danh 100%, không thu thập bất kỳ dữ liệu cá nhân nào, tự động xóa ảnh sau khi quét, và công khai toàn bộ Prompt Log để đảm bảo tính liêm chính khoa học tuyệt đối.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[4:40 - 5:00] Nhóm em nhìn nhận thẳng thắn các hạn chế hiện tại và đã có lộ trình phát triển rõ ràng: Mở rộng trọn vẹn chương trình KHTN cấp 2, tích hợp AI đọc sơ đồ mạch điện/đồ thị, và phát triển cổng thông tin kết nối giáo viên với học sinh.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[5:00] Để kết lại, chúng em tin rằng: 'Socrates Nhí không tạo ra những học sinh giỏi chép bài, mà nuôi dưỡng những bộ óc biết suy nghĩ và tự khám phá chân lý'. Chúng em xin chân thành cảm ơn Quý Ban Giám khảo và sẵn sàng trả lời các câu hỏi phản biện!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914400"/>
            <a:ext cx="9997135" cy="502920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45920" y="1371600"/>
            <a:ext cx="4572000" cy="411480"/>
          </a:xfrm>
          <a:prstGeom prst="roundRect">
            <a:avLst/>
          </a:prstGeom>
          <a:solidFill>
            <a:srgbClr val="E0E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defRPr>
            </a:pPr>
            <a:r>
              <a:t>🏆 BẢNG A (THCS) • CUỘC THI SÁNG TẠO TRẺ QUỐC GIA AI 2026</a:t>
            </a:r>
          </a:p>
        </p:txBody>
      </p:sp>
      <p:sp>
        <p:nvSpPr>
          <p:cNvPr id="5" name="TextBox 4"/>
          <p:cNvSpPr txBox="1"/>
          <p:nvPr/>
        </p:nvSpPr>
        <p:spPr>
          <a:xfrm>
            <a:off x="1645920" y="2011680"/>
            <a:ext cx="8961120" cy="1280160"/>
          </a:xfrm>
          <a:prstGeom prst="rect">
            <a:avLst/>
          </a:prstGeom>
          <a:noFill/>
        </p:spPr>
        <p:txBody>
          <a:bodyPr wrap="square">
            <a:spAutoFit/>
          </a:bodyPr>
          <a:lstStyle/>
          <a:p>
            <a:pPr>
              <a:defRPr sz="3600" b="1">
                <a:solidFill>
                  <a:srgbClr val="1E3A8A"/>
                </a:solidFill>
              </a:defRPr>
            </a:pPr>
            <a:r>
              <a:t>SOCRATES NHÍ 💡</a:t>
            </a:r>
          </a:p>
          <a:p>
            <a:pPr>
              <a:spcBef>
                <a:spcPts val="800"/>
              </a:spcBef>
              <a:defRPr sz="1700" b="1">
                <a:solidFill>
                  <a:srgbClr val="2563EB"/>
                </a:solidFill>
              </a:defRPr>
            </a:pPr>
            <a:r>
              <a:t>Trợ lý AI gợi mở tư duy Khoa học Tự nhiên THCS theo phương pháp Vấn đáp Socratic</a:t>
            </a:r>
          </a:p>
        </p:txBody>
      </p:sp>
      <p:sp>
        <p:nvSpPr>
          <p:cNvPr id="6" name="Rectangle 5"/>
          <p:cNvSpPr/>
          <p:nvPr/>
        </p:nvSpPr>
        <p:spPr>
          <a:xfrm>
            <a:off x="1645920" y="3474720"/>
            <a:ext cx="8869680" cy="594360"/>
          </a:xfrm>
          <a:prstGeom prst="rect">
            <a:avLst/>
          </a:prstGeom>
          <a:solidFill>
            <a:srgbClr val="EEF2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E3A8A"/>
                </a:solidFill>
              </a:defRPr>
            </a:pPr>
            <a:r>
              <a:t>✨  HỎI ĐÚNG CÁCH  •  NGHĨ SÂU SẮC  •  TỰ ĐÚC KẾT TRI THỨC KHOA HỌC  ✨</a:t>
            </a:r>
          </a:p>
        </p:txBody>
      </p:sp>
      <p:sp>
        <p:nvSpPr>
          <p:cNvPr id="7" name="TextBox 6"/>
          <p:cNvSpPr txBox="1"/>
          <p:nvPr/>
        </p:nvSpPr>
        <p:spPr>
          <a:xfrm>
            <a:off x="1645920" y="4297680"/>
            <a:ext cx="8869680" cy="1097280"/>
          </a:xfrm>
          <a:prstGeom prst="rect">
            <a:avLst/>
          </a:prstGeom>
          <a:noFill/>
        </p:spPr>
        <p:txBody>
          <a:bodyPr wrap="none">
            <a:spAutoFit/>
          </a:bodyPr>
          <a:lstStyle/>
          <a:p>
            <a:pPr>
              <a:defRPr sz="1200">
                <a:solidFill>
                  <a:srgbClr val="0F172A"/>
                </a:solidFill>
              </a:defRPr>
            </a:pPr>
            <a:r>
              <a:t>• Nhóm tác giả: Nhóm Nghiên cứu &amp; Sáng tạo Trẻ THCS (Bảo An - Minh Triết - Huy Hoàng)</a:t>
            </a:r>
          </a:p>
          <a:p>
            <a:pPr>
              <a:defRPr sz="1200">
                <a:solidFill>
                  <a:srgbClr val="64748B"/>
                </a:solidFill>
              </a:defRPr>
            </a:pPr>
            <a:r>
              <a:t>• Lĩnh vực: Trí tuệ Nhân tạo phục vụ Đổi mới Phương pháp Dạy &amp; Học KHTN (Bộ GD&amp;ĐT)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10698480" cy="320040"/>
          </a:xfrm>
          <a:prstGeom prst="rect">
            <a:avLst/>
          </a:prstGeom>
          <a:noFill/>
        </p:spPr>
        <p:txBody>
          <a:bodyPr wrap="square">
            <a:spAutoFit/>
          </a:bodyPr>
          <a:lstStyle/>
          <a:p>
            <a:pPr>
              <a:defRPr sz="1000" b="1">
                <a:solidFill>
                  <a:srgbClr val="0891B2"/>
                </a:solidFill>
              </a:defRPr>
            </a:pPr>
            <a:r>
              <a:t>DỰ ÁN SOCRATES NHÍ 💡 | BẢNG A - CUỘC THI SÁNG TẠO TRẺ QUỐC GIA AI 2026</a:t>
            </a:r>
          </a:p>
        </p:txBody>
      </p:sp>
      <p:sp>
        <p:nvSpPr>
          <p:cNvPr id="4" name="TextBox 3"/>
          <p:cNvSpPr txBox="1"/>
          <p:nvPr/>
        </p:nvSpPr>
        <p:spPr>
          <a:xfrm>
            <a:off x="731520" y="548640"/>
            <a:ext cx="10698480" cy="640080"/>
          </a:xfrm>
          <a:prstGeom prst="rect">
            <a:avLst/>
          </a:prstGeom>
          <a:noFill/>
        </p:spPr>
        <p:txBody>
          <a:bodyPr wrap="square">
            <a:spAutoFit/>
          </a:bodyPr>
          <a:lstStyle/>
          <a:p>
            <a:pPr>
              <a:defRPr sz="2200" b="1">
                <a:solidFill>
                  <a:srgbClr val="0F172A"/>
                </a:solidFill>
              </a:defRPr>
            </a:pPr>
            <a:r>
              <a:t>1. Thực trạng: Nghịch lý AI và Vấn nạn Chép bài Thụ động</a:t>
            </a:r>
          </a:p>
        </p:txBody>
      </p:sp>
      <p:sp>
        <p:nvSpPr>
          <p:cNvPr id="5" name="Rounded Rectangle 4"/>
          <p:cNvSpPr/>
          <p:nvPr/>
        </p:nvSpPr>
        <p:spPr>
          <a:xfrm>
            <a:off x="731520" y="1371600"/>
            <a:ext cx="512064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54480"/>
            <a:ext cx="4572000" cy="4572000"/>
          </a:xfrm>
          <a:prstGeom prst="rect">
            <a:avLst/>
          </a:prstGeom>
          <a:noFill/>
        </p:spPr>
        <p:txBody>
          <a:bodyPr wrap="square">
            <a:spAutoFit/>
          </a:bodyPr>
          <a:lstStyle/>
          <a:p>
            <a:pPr>
              <a:defRPr sz="1500" b="1">
                <a:solidFill>
                  <a:srgbClr val="B91C1C"/>
                </a:solidFill>
              </a:defRPr>
            </a:pPr>
            <a:r>
              <a:t>❌ THỰC TRẠNG ĐÁNG BÁO ĐỘNG</a:t>
            </a:r>
          </a:p>
          <a:p>
            <a:pPr>
              <a:spcBef>
                <a:spcPts val="1200"/>
              </a:spcBef>
              <a:defRPr sz="1250">
                <a:solidFill>
                  <a:srgbClr val="0F172A"/>
                </a:solidFill>
              </a:defRPr>
            </a:pPr>
            <a:r>
              <a:t>• Làn sóng 'Chụp ảnh xin đáp án': Học sinh ngày càng phụ thuộc vào ChatGPT, Photomath hay các bot giải bài sẵn.</a:t>
            </a:r>
          </a:p>
          <a:p>
            <a:pPr>
              <a:spcBef>
                <a:spcPts val="1200"/>
              </a:spcBef>
              <a:defRPr sz="1250">
                <a:solidFill>
                  <a:srgbClr val="0F172A"/>
                </a:solidFill>
              </a:defRPr>
            </a:pPr>
            <a:r>
              <a:t>• Mất năng lực tư duy độc lập: Học sinh chỉ chép số vào vở để đối phó, không hiểu bản chất hiện tượng KHTN.</a:t>
            </a:r>
          </a:p>
          <a:p>
            <a:pPr>
              <a:spcBef>
                <a:spcPts val="1200"/>
              </a:spcBef>
              <a:defRPr sz="1250">
                <a:solidFill>
                  <a:srgbClr val="0F172A"/>
                </a:solidFill>
              </a:defRPr>
            </a:pPr>
            <a:r>
              <a:t>• Nghịch lý công nghệ: AI càng thông minh và giải bài nhanh, học sinh càng lười suy nghĩ và nhanh quên.</a:t>
            </a:r>
          </a:p>
          <a:p>
            <a:pPr>
              <a:spcBef>
                <a:spcPts val="1200"/>
              </a:spcBef>
              <a:defRPr sz="1250">
                <a:solidFill>
                  <a:srgbClr val="0F172A"/>
                </a:solidFill>
              </a:defRPr>
            </a:pPr>
            <a:r>
              <a:t>• Thiếu phương pháp sư phạm: Các công cụ hiện nay chỉ là 'máy phát đáp án', không kiên nhẫn dẫn dắt từng bước.</a:t>
            </a:r>
          </a:p>
        </p:txBody>
      </p:sp>
      <p:sp>
        <p:nvSpPr>
          <p:cNvPr id="7" name="Rounded Rectangle 6"/>
          <p:cNvSpPr/>
          <p:nvPr/>
        </p:nvSpPr>
        <p:spPr>
          <a:xfrm>
            <a:off x="6217920" y="1371600"/>
            <a:ext cx="5212080" cy="493776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54480"/>
            <a:ext cx="4663440" cy="4572000"/>
          </a:xfrm>
          <a:prstGeom prst="rect">
            <a:avLst/>
          </a:prstGeom>
          <a:noFill/>
        </p:spPr>
        <p:txBody>
          <a:bodyPr wrap="square">
            <a:spAutoFit/>
          </a:bodyPr>
          <a:lstStyle/>
          <a:p>
            <a:pPr>
              <a:defRPr sz="1500" b="1">
                <a:solidFill>
                  <a:srgbClr val="166534"/>
                </a:solidFill>
              </a:defRPr>
            </a:pPr>
            <a:r>
              <a:t>💡 LỜI GIẢI ĐỘT PHÁ TỪ SOCRATES NHÍ</a:t>
            </a:r>
          </a:p>
          <a:p>
            <a:pPr>
              <a:spcBef>
                <a:spcPts val="1200"/>
              </a:spcBef>
              <a:defRPr sz="1250">
                <a:solidFill>
                  <a:srgbClr val="0F172A"/>
                </a:solidFill>
              </a:defRPr>
            </a:pPr>
            <a:r>
              <a:t>✓ Kỷ luật sư phạm thép: Tuyệt đối KHÔNG đưa đáp số, KHÔNG giải hộ trọn gói bất kể học sinh nài ép thế nào.</a:t>
            </a:r>
          </a:p>
          <a:p>
            <a:pPr>
              <a:spcBef>
                <a:spcPts val="1200"/>
              </a:spcBef>
              <a:defRPr sz="1250">
                <a:solidFill>
                  <a:srgbClr val="0F172A"/>
                </a:solidFill>
              </a:defRPr>
            </a:pPr>
            <a:r>
              <a:t>✓ Phương pháp Vấn đáp Socratic: Chia nhỏ bài toán thành các câu hỏi gợi mở trực quan, gần gũi đời sống.</a:t>
            </a:r>
          </a:p>
          <a:p>
            <a:pPr>
              <a:spcBef>
                <a:spcPts val="1200"/>
              </a:spcBef>
              <a:defRPr sz="1250">
                <a:solidFill>
                  <a:srgbClr val="0F172A"/>
                </a:solidFill>
              </a:defRPr>
            </a:pPr>
            <a:r>
              <a:t>✓ Dẫn dắt tự nhận ra bản chất: Học sinh tự mình gọi tên dữ kiện, liên hệ công thức và tự tính toán.</a:t>
            </a:r>
          </a:p>
          <a:p>
            <a:pPr>
              <a:spcBef>
                <a:spcPts val="1200"/>
              </a:spcBef>
              <a:defRPr sz="1250">
                <a:solidFill>
                  <a:srgbClr val="0F172A"/>
                </a:solidFill>
              </a:defRPr>
            </a:pPr>
            <a:r>
              <a:t>✓ Tự tay đúc kết tri thức: Chỉ khi học sinh tự khái quát được quy tắc cốt lõi mới mở khóa Sơ đồ tư duy dạng nhánh.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10698480" cy="320040"/>
          </a:xfrm>
          <a:prstGeom prst="rect">
            <a:avLst/>
          </a:prstGeom>
          <a:noFill/>
        </p:spPr>
        <p:txBody>
          <a:bodyPr wrap="square">
            <a:spAutoFit/>
          </a:bodyPr>
          <a:lstStyle/>
          <a:p>
            <a:pPr>
              <a:defRPr sz="1000" b="1">
                <a:solidFill>
                  <a:srgbClr val="0891B2"/>
                </a:solidFill>
              </a:defRPr>
            </a:pPr>
            <a:r>
              <a:t>DỰ ÁN SOCRATES NHÍ 💡 | BẢNG A - CUỘC THI SÁNG TẠO TRẺ QUỐC GIA AI 2026</a:t>
            </a:r>
          </a:p>
        </p:txBody>
      </p:sp>
      <p:sp>
        <p:nvSpPr>
          <p:cNvPr id="4" name="TextBox 3"/>
          <p:cNvSpPr txBox="1"/>
          <p:nvPr/>
        </p:nvSpPr>
        <p:spPr>
          <a:xfrm>
            <a:off x="731520" y="548640"/>
            <a:ext cx="10698480" cy="640080"/>
          </a:xfrm>
          <a:prstGeom prst="rect">
            <a:avLst/>
          </a:prstGeom>
          <a:noFill/>
        </p:spPr>
        <p:txBody>
          <a:bodyPr wrap="square">
            <a:spAutoFit/>
          </a:bodyPr>
          <a:lstStyle/>
          <a:p>
            <a:pPr>
              <a:defRPr sz="2200" b="1">
                <a:solidFill>
                  <a:srgbClr val="0F172A"/>
                </a:solidFill>
              </a:defRPr>
            </a:pPr>
            <a:r>
              <a:t>2. Phương pháp Sư phạm: Chu trình Socratic 5 Pha &amp; Máy Trạng Thái</a:t>
            </a:r>
          </a:p>
        </p:txBody>
      </p:sp>
      <p:sp>
        <p:nvSpPr>
          <p:cNvPr id="5" name="Rounded Rectangle 4"/>
          <p:cNvSpPr/>
          <p:nvPr/>
        </p:nvSpPr>
        <p:spPr>
          <a:xfrm>
            <a:off x="731520" y="1371600"/>
            <a:ext cx="2066543"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2066543"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Pha 1: Làm rõ</a:t>
            </a:r>
          </a:p>
          <a:p>
            <a:pPr algn="ctr">
              <a:defRPr sz="1000">
                <a:solidFill>
                  <a:srgbClr val="F0F0F0"/>
                </a:solidFill>
              </a:defRPr>
            </a:pPr>
            <a:r>
              <a:t>(Clarify)</a:t>
            </a:r>
          </a:p>
        </p:txBody>
      </p:sp>
      <p:sp>
        <p:nvSpPr>
          <p:cNvPr id="7" name="TextBox 6"/>
          <p:cNvSpPr txBox="1"/>
          <p:nvPr/>
        </p:nvSpPr>
        <p:spPr>
          <a:xfrm>
            <a:off x="868680" y="2331720"/>
            <a:ext cx="1792223" cy="2194560"/>
          </a:xfrm>
          <a:prstGeom prst="rect">
            <a:avLst/>
          </a:prstGeom>
          <a:noFill/>
        </p:spPr>
        <p:txBody>
          <a:bodyPr wrap="square">
            <a:spAutoFit/>
          </a:bodyPr>
          <a:lstStyle/>
          <a:p>
            <a:pPr>
              <a:defRPr sz="1100">
                <a:solidFill>
                  <a:srgbClr val="0F172A"/>
                </a:solidFill>
              </a:defRPr>
            </a:pPr>
            <a:r>
              <a:t>Học sinh tự bóc tách dữ kiện (s, t, đại lượng cho trước).</a:t>
            </a:r>
          </a:p>
        </p:txBody>
      </p:sp>
      <p:sp>
        <p:nvSpPr>
          <p:cNvPr id="8" name="Rounded Rectangle 7"/>
          <p:cNvSpPr/>
          <p:nvPr/>
        </p:nvSpPr>
        <p:spPr>
          <a:xfrm>
            <a:off x="2926080" y="1371600"/>
            <a:ext cx="2066543"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926080" y="1371600"/>
            <a:ext cx="2066543" cy="82296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Pha 2: Gợi nhớ</a:t>
            </a:r>
          </a:p>
          <a:p>
            <a:pPr algn="ctr">
              <a:defRPr sz="1000">
                <a:solidFill>
                  <a:srgbClr val="F0F0F0"/>
                </a:solidFill>
              </a:defRPr>
            </a:pPr>
            <a:r>
              <a:t>(Recall)</a:t>
            </a:r>
          </a:p>
        </p:txBody>
      </p:sp>
      <p:sp>
        <p:nvSpPr>
          <p:cNvPr id="10" name="TextBox 9"/>
          <p:cNvSpPr txBox="1"/>
          <p:nvPr/>
        </p:nvSpPr>
        <p:spPr>
          <a:xfrm>
            <a:off x="3063240" y="2331720"/>
            <a:ext cx="1792223" cy="2194560"/>
          </a:xfrm>
          <a:prstGeom prst="rect">
            <a:avLst/>
          </a:prstGeom>
          <a:noFill/>
        </p:spPr>
        <p:txBody>
          <a:bodyPr wrap="square">
            <a:spAutoFit/>
          </a:bodyPr>
          <a:lstStyle/>
          <a:p>
            <a:pPr>
              <a:defRPr sz="1100">
                <a:solidFill>
                  <a:srgbClr val="0F172A"/>
                </a:solidFill>
              </a:defRPr>
            </a:pPr>
            <a:r>
              <a:t>Học sinh nhớ lại định luật, khái niệm, công thức liên quan.</a:t>
            </a:r>
          </a:p>
        </p:txBody>
      </p:sp>
      <p:sp>
        <p:nvSpPr>
          <p:cNvPr id="11" name="Rounded Rectangle 10"/>
          <p:cNvSpPr/>
          <p:nvPr/>
        </p:nvSpPr>
        <p:spPr>
          <a:xfrm>
            <a:off x="5120640" y="1371600"/>
            <a:ext cx="2066543"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120640" y="1371600"/>
            <a:ext cx="2066543" cy="82296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Pha 3: Lập luận</a:t>
            </a:r>
          </a:p>
          <a:p>
            <a:pPr algn="ctr">
              <a:defRPr sz="1000">
                <a:solidFill>
                  <a:srgbClr val="F0F0F0"/>
                </a:solidFill>
              </a:defRPr>
            </a:pPr>
            <a:r>
              <a:t>(Reason)</a:t>
            </a:r>
          </a:p>
        </p:txBody>
      </p:sp>
      <p:sp>
        <p:nvSpPr>
          <p:cNvPr id="13" name="TextBox 12"/>
          <p:cNvSpPr txBox="1"/>
          <p:nvPr/>
        </p:nvSpPr>
        <p:spPr>
          <a:xfrm>
            <a:off x="5257800" y="2331720"/>
            <a:ext cx="1792223" cy="2194560"/>
          </a:xfrm>
          <a:prstGeom prst="rect">
            <a:avLst/>
          </a:prstGeom>
          <a:noFill/>
        </p:spPr>
        <p:txBody>
          <a:bodyPr wrap="square">
            <a:spAutoFit/>
          </a:bodyPr>
          <a:lstStyle/>
          <a:p>
            <a:pPr>
              <a:defRPr sz="1100">
                <a:solidFill>
                  <a:srgbClr val="0F172A"/>
                </a:solidFill>
              </a:defRPr>
            </a:pPr>
            <a:r>
              <a:t>Học sinh ghép nối dữ kiện, đổi đơn vị chuẩn và biến đổi.</a:t>
            </a:r>
          </a:p>
        </p:txBody>
      </p:sp>
      <p:sp>
        <p:nvSpPr>
          <p:cNvPr id="14" name="Rounded Rectangle 13"/>
          <p:cNvSpPr/>
          <p:nvPr/>
        </p:nvSpPr>
        <p:spPr>
          <a:xfrm>
            <a:off x="7315199" y="1371600"/>
            <a:ext cx="2066543"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9" y="1371600"/>
            <a:ext cx="2066543" cy="822960"/>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Pha 4: Kiểm tra</a:t>
            </a:r>
          </a:p>
          <a:p>
            <a:pPr algn="ctr">
              <a:defRPr sz="1000">
                <a:solidFill>
                  <a:srgbClr val="F0F0F0"/>
                </a:solidFill>
              </a:defRPr>
            </a:pPr>
            <a:r>
              <a:t>(Check)</a:t>
            </a:r>
          </a:p>
        </p:txBody>
      </p:sp>
      <p:sp>
        <p:nvSpPr>
          <p:cNvPr id="16" name="TextBox 15"/>
          <p:cNvSpPr txBox="1"/>
          <p:nvPr/>
        </p:nvSpPr>
        <p:spPr>
          <a:xfrm>
            <a:off x="7452359" y="2331720"/>
            <a:ext cx="1792223" cy="2194560"/>
          </a:xfrm>
          <a:prstGeom prst="rect">
            <a:avLst/>
          </a:prstGeom>
          <a:noFill/>
        </p:spPr>
        <p:txBody>
          <a:bodyPr wrap="square">
            <a:spAutoFit/>
          </a:bodyPr>
          <a:lstStyle/>
          <a:p>
            <a:pPr>
              <a:defRPr sz="1100">
                <a:solidFill>
                  <a:srgbClr val="0F172A"/>
                </a:solidFill>
              </a:defRPr>
            </a:pPr>
            <a:r>
              <a:t>Học sinh tự soát tính hợp lý, đối chiếu đơn vị đo và kết quả.</a:t>
            </a:r>
          </a:p>
        </p:txBody>
      </p:sp>
      <p:sp>
        <p:nvSpPr>
          <p:cNvPr id="17" name="Rounded Rectangle 16"/>
          <p:cNvSpPr/>
          <p:nvPr/>
        </p:nvSpPr>
        <p:spPr>
          <a:xfrm>
            <a:off x="9509760" y="1371600"/>
            <a:ext cx="2066543"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509760" y="1371600"/>
            <a:ext cx="2066543" cy="82296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Pha 5: Đúc kết</a:t>
            </a:r>
          </a:p>
          <a:p>
            <a:pPr algn="ctr">
              <a:defRPr sz="1000">
                <a:solidFill>
                  <a:srgbClr val="F0F0F0"/>
                </a:solidFill>
              </a:defRPr>
            </a:pPr>
            <a:r>
              <a:t>(Generalize)</a:t>
            </a:r>
          </a:p>
        </p:txBody>
      </p:sp>
      <p:sp>
        <p:nvSpPr>
          <p:cNvPr id="19" name="TextBox 18"/>
          <p:cNvSpPr txBox="1"/>
          <p:nvPr/>
        </p:nvSpPr>
        <p:spPr>
          <a:xfrm>
            <a:off x="9646920" y="2331720"/>
            <a:ext cx="1792223" cy="2194560"/>
          </a:xfrm>
          <a:prstGeom prst="rect">
            <a:avLst/>
          </a:prstGeom>
          <a:noFill/>
        </p:spPr>
        <p:txBody>
          <a:bodyPr wrap="square">
            <a:spAutoFit/>
          </a:bodyPr>
          <a:lstStyle/>
          <a:p>
            <a:pPr>
              <a:defRPr sz="1100">
                <a:solidFill>
                  <a:srgbClr val="0F172A"/>
                </a:solidFill>
              </a:defRPr>
            </a:pPr>
            <a:r>
              <a:t>Học sinh tự đúc kết quy tắc cốt lõi -&gt; Mở khóa Sơ đồ Tư duy.</a:t>
            </a:r>
          </a:p>
        </p:txBody>
      </p:sp>
      <p:sp>
        <p:nvSpPr>
          <p:cNvPr id="20" name="Rounded Rectangle 19"/>
          <p:cNvSpPr/>
          <p:nvPr/>
        </p:nvSpPr>
        <p:spPr>
          <a:xfrm>
            <a:off x="731520" y="4892040"/>
            <a:ext cx="10728655" cy="1417320"/>
          </a:xfrm>
          <a:prstGeom prst="roundRect">
            <a:avLst/>
          </a:prstGeom>
          <a:solidFill>
            <a:srgbClr val="EEF2FF"/>
          </a:solidFill>
          <a:ln w="1524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983480"/>
            <a:ext cx="10149840" cy="1234440"/>
          </a:xfrm>
          <a:prstGeom prst="rect">
            <a:avLst/>
          </a:prstGeom>
          <a:noFill/>
        </p:spPr>
        <p:txBody>
          <a:bodyPr wrap="square">
            <a:spAutoFit/>
          </a:bodyPr>
          <a:lstStyle/>
          <a:p>
            <a:pPr>
              <a:defRPr sz="1200" b="1">
                <a:solidFill>
                  <a:srgbClr val="1E3A8A"/>
                </a:solidFill>
              </a:defRPr>
            </a:pPr>
            <a:r>
              <a:t>⚙️ ĐIỀU PHỐI BỞI STATE MACHINE (MÁY TRẠNG THÁI SƯ PHẠM):</a:t>
            </a:r>
          </a:p>
          <a:p>
            <a:pPr>
              <a:defRPr sz="1050">
                <a:solidFill>
                  <a:srgbClr val="0F172A"/>
                </a:solidFill>
              </a:defRPr>
            </a:pPr>
            <a:r>
              <a:t>• Ma trận chuyển pha 5 Pha × 6 Kiểu câu trả lời (Đúng, Một phần, Nhầm lẫn, Lạc đề, Bối rối, Nài ép xin đáp án).</a:t>
            </a:r>
            <a:br/>
            <a:r>
              <a:t>• Chế độ đồng hành Không Giới Hạn Số Lượt (Unlimited Turns): AI kiên trì dẫn dắt đến khi học sinh thực sự hiểu bài.</a:t>
            </a:r>
            <a:br/>
            <a:r>
              <a:t>• Cơ chế thích ứng thông minh: Nếu bối rối 3 lần liên tiếp, hệ thống tự động lùi 1 pha hoặc hạ nhỏ câu hỏi thành ví dụ đời sống.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10698480" cy="320040"/>
          </a:xfrm>
          <a:prstGeom prst="rect">
            <a:avLst/>
          </a:prstGeom>
          <a:noFill/>
        </p:spPr>
        <p:txBody>
          <a:bodyPr wrap="square">
            <a:spAutoFit/>
          </a:bodyPr>
          <a:lstStyle/>
          <a:p>
            <a:pPr>
              <a:defRPr sz="1000" b="1">
                <a:solidFill>
                  <a:srgbClr val="0891B2"/>
                </a:solidFill>
              </a:defRPr>
            </a:pPr>
            <a:r>
              <a:t>DỰ ÁN SOCRATES NHÍ 💡 | BẢNG A - CUỘC THI SÁNG TẠO TRẺ QUỐC GIA AI 2026</a:t>
            </a:r>
          </a:p>
        </p:txBody>
      </p:sp>
      <p:sp>
        <p:nvSpPr>
          <p:cNvPr id="4" name="TextBox 3"/>
          <p:cNvSpPr txBox="1"/>
          <p:nvPr/>
        </p:nvSpPr>
        <p:spPr>
          <a:xfrm>
            <a:off x="731520" y="548640"/>
            <a:ext cx="10698480" cy="640080"/>
          </a:xfrm>
          <a:prstGeom prst="rect">
            <a:avLst/>
          </a:prstGeom>
          <a:noFill/>
        </p:spPr>
        <p:txBody>
          <a:bodyPr wrap="square">
            <a:spAutoFit/>
          </a:bodyPr>
          <a:lstStyle/>
          <a:p>
            <a:pPr>
              <a:defRPr sz="2200" b="1">
                <a:solidFill>
                  <a:srgbClr val="0F172A"/>
                </a:solidFill>
              </a:defRPr>
            </a:pPr>
            <a:r>
              <a:t>3. Kiến trúc Hệ thống: Luồng 5 Trạm Khép Kín</a:t>
            </a:r>
          </a:p>
        </p:txBody>
      </p:sp>
      <p:sp>
        <p:nvSpPr>
          <p:cNvPr id="5" name="Rounded Rectangle 4"/>
          <p:cNvSpPr/>
          <p:nvPr/>
        </p:nvSpPr>
        <p:spPr>
          <a:xfrm>
            <a:off x="731520" y="1371600"/>
            <a:ext cx="2066543" cy="3931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1554480"/>
            <a:ext cx="1792224" cy="4572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TRẠM 1</a:t>
            </a:r>
          </a:p>
        </p:txBody>
      </p:sp>
      <p:sp>
        <p:nvSpPr>
          <p:cNvPr id="7" name="TextBox 6"/>
          <p:cNvSpPr txBox="1"/>
          <p:nvPr/>
        </p:nvSpPr>
        <p:spPr>
          <a:xfrm>
            <a:off x="822960" y="2103120"/>
            <a:ext cx="1883664" cy="731520"/>
          </a:xfrm>
          <a:prstGeom prst="rect">
            <a:avLst/>
          </a:prstGeom>
          <a:noFill/>
        </p:spPr>
        <p:txBody>
          <a:bodyPr wrap="square">
            <a:spAutoFit/>
          </a:bodyPr>
          <a:lstStyle/>
          <a:p>
            <a:pPr>
              <a:defRPr sz="1200" b="1">
                <a:solidFill>
                  <a:srgbClr val="0F172A"/>
                </a:solidFill>
              </a:defRPr>
            </a:pPr>
            <a:r>
              <a:t>Trạm 1: Nhập đề Đa thức</a:t>
            </a:r>
          </a:p>
        </p:txBody>
      </p:sp>
      <p:sp>
        <p:nvSpPr>
          <p:cNvPr id="8" name="TextBox 7"/>
          <p:cNvSpPr txBox="1"/>
          <p:nvPr/>
        </p:nvSpPr>
        <p:spPr>
          <a:xfrm>
            <a:off x="822960" y="2788920"/>
            <a:ext cx="1883664" cy="365760"/>
          </a:xfrm>
          <a:prstGeom prst="rect">
            <a:avLst/>
          </a:prstGeom>
          <a:noFill/>
        </p:spPr>
        <p:txBody>
          <a:bodyPr wrap="none">
            <a:spAutoFit/>
          </a:bodyPr>
          <a:lstStyle/>
          <a:p>
            <a:pPr>
              <a:defRPr sz="1000" b="1">
                <a:solidFill>
                  <a:srgbClr val="0891B2"/>
                </a:solidFill>
              </a:defRPr>
            </a:pPr>
            <a:r>
              <a:t>[FR-01, FR-02, FR-03]</a:t>
            </a:r>
          </a:p>
        </p:txBody>
      </p:sp>
      <p:sp>
        <p:nvSpPr>
          <p:cNvPr id="9" name="TextBox 8"/>
          <p:cNvSpPr txBox="1"/>
          <p:nvPr/>
        </p:nvSpPr>
        <p:spPr>
          <a:xfrm>
            <a:off x="822960" y="3154680"/>
            <a:ext cx="1883664" cy="2011680"/>
          </a:xfrm>
          <a:prstGeom prst="rect">
            <a:avLst/>
          </a:prstGeom>
          <a:noFill/>
        </p:spPr>
        <p:txBody>
          <a:bodyPr wrap="square">
            <a:spAutoFit/>
          </a:bodyPr>
          <a:lstStyle/>
          <a:p>
            <a:pPr>
              <a:defRPr sz="1000">
                <a:solidFill>
                  <a:srgbClr val="0F172A"/>
                </a:solidFill>
              </a:defRPr>
            </a:pPr>
            <a:r>
              <a:t>• Gõ văn bản / 12 bài mẫu SGK</a:t>
            </a:r>
            <a:br/>
            <a:r>
              <a:t>• Tesseract OCR công thức KHTN</a:t>
            </a:r>
            <a:br/>
            <a:r>
              <a:t>• Nhận diện giọng nói chuẩn hóa</a:t>
            </a:r>
          </a:p>
        </p:txBody>
      </p:sp>
      <p:sp>
        <p:nvSpPr>
          <p:cNvPr id="10" name="Rounded Rectangle 9"/>
          <p:cNvSpPr/>
          <p:nvPr/>
        </p:nvSpPr>
        <p:spPr>
          <a:xfrm>
            <a:off x="2926080" y="1371600"/>
            <a:ext cx="2066543" cy="3931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63240" y="1554480"/>
            <a:ext cx="1792224" cy="4572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TRẠM 2</a:t>
            </a:r>
          </a:p>
        </p:txBody>
      </p:sp>
      <p:sp>
        <p:nvSpPr>
          <p:cNvPr id="12" name="TextBox 11"/>
          <p:cNvSpPr txBox="1"/>
          <p:nvPr/>
        </p:nvSpPr>
        <p:spPr>
          <a:xfrm>
            <a:off x="3017520" y="2103120"/>
            <a:ext cx="1883664" cy="731520"/>
          </a:xfrm>
          <a:prstGeom prst="rect">
            <a:avLst/>
          </a:prstGeom>
          <a:noFill/>
        </p:spPr>
        <p:txBody>
          <a:bodyPr wrap="square">
            <a:spAutoFit/>
          </a:bodyPr>
          <a:lstStyle/>
          <a:p>
            <a:pPr>
              <a:defRPr sz="1200" b="1">
                <a:solidFill>
                  <a:srgbClr val="0F172A"/>
                </a:solidFill>
              </a:defRPr>
            </a:pPr>
            <a:r>
              <a:t>Trạm 2: Trợ lý Socratic</a:t>
            </a:r>
          </a:p>
        </p:txBody>
      </p:sp>
      <p:sp>
        <p:nvSpPr>
          <p:cNvPr id="13" name="TextBox 12"/>
          <p:cNvSpPr txBox="1"/>
          <p:nvPr/>
        </p:nvSpPr>
        <p:spPr>
          <a:xfrm>
            <a:off x="3017520" y="2788920"/>
            <a:ext cx="1883664" cy="365760"/>
          </a:xfrm>
          <a:prstGeom prst="rect">
            <a:avLst/>
          </a:prstGeom>
          <a:noFill/>
        </p:spPr>
        <p:txBody>
          <a:bodyPr wrap="none">
            <a:spAutoFit/>
          </a:bodyPr>
          <a:lstStyle/>
          <a:p>
            <a:pPr>
              <a:defRPr sz="1000" b="1">
                <a:solidFill>
                  <a:srgbClr val="0891B2"/>
                </a:solidFill>
              </a:defRPr>
            </a:pPr>
            <a:r>
              <a:t>[FR-04, FR-05]</a:t>
            </a:r>
          </a:p>
        </p:txBody>
      </p:sp>
      <p:sp>
        <p:nvSpPr>
          <p:cNvPr id="14" name="TextBox 13"/>
          <p:cNvSpPr txBox="1"/>
          <p:nvPr/>
        </p:nvSpPr>
        <p:spPr>
          <a:xfrm>
            <a:off x="3017520" y="3154680"/>
            <a:ext cx="1883664" cy="2011680"/>
          </a:xfrm>
          <a:prstGeom prst="rect">
            <a:avLst/>
          </a:prstGeom>
          <a:noFill/>
        </p:spPr>
        <p:txBody>
          <a:bodyPr wrap="square">
            <a:spAutoFit/>
          </a:bodyPr>
          <a:lstStyle/>
          <a:p>
            <a:pPr>
              <a:defRPr sz="1000">
                <a:solidFill>
                  <a:srgbClr val="0F172A"/>
                </a:solidFill>
              </a:defRPr>
            </a:pPr>
            <a:r>
              <a:t>• Điều phối State Machine 5 pha</a:t>
            </a:r>
            <a:br/>
            <a:r>
              <a:t>• Câu hỏi mở trực quan đời sống</a:t>
            </a:r>
            <a:br/>
            <a:r>
              <a:t>• Micro-hint định hướng &lt;= 140 ký tự</a:t>
            </a:r>
          </a:p>
        </p:txBody>
      </p:sp>
      <p:sp>
        <p:nvSpPr>
          <p:cNvPr id="15" name="Rounded Rectangle 14"/>
          <p:cNvSpPr/>
          <p:nvPr/>
        </p:nvSpPr>
        <p:spPr>
          <a:xfrm>
            <a:off x="5120640" y="1371600"/>
            <a:ext cx="2066543" cy="3931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257800" y="1554480"/>
            <a:ext cx="1792224" cy="4572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TRẠM 3</a:t>
            </a:r>
          </a:p>
        </p:txBody>
      </p:sp>
      <p:sp>
        <p:nvSpPr>
          <p:cNvPr id="17" name="TextBox 16"/>
          <p:cNvSpPr txBox="1"/>
          <p:nvPr/>
        </p:nvSpPr>
        <p:spPr>
          <a:xfrm>
            <a:off x="5212080" y="2103120"/>
            <a:ext cx="1883664" cy="731520"/>
          </a:xfrm>
          <a:prstGeom prst="rect">
            <a:avLst/>
          </a:prstGeom>
          <a:noFill/>
        </p:spPr>
        <p:txBody>
          <a:bodyPr wrap="square">
            <a:spAutoFit/>
          </a:bodyPr>
          <a:lstStyle/>
          <a:p>
            <a:pPr>
              <a:defRPr sz="1200" b="1">
                <a:solidFill>
                  <a:srgbClr val="0F172A"/>
                </a:solidFill>
              </a:defRPr>
            </a:pPr>
            <a:r>
              <a:t>Trạm 3: Khiên Guardrail</a:t>
            </a:r>
          </a:p>
        </p:txBody>
      </p:sp>
      <p:sp>
        <p:nvSpPr>
          <p:cNvPr id="18" name="TextBox 17"/>
          <p:cNvSpPr txBox="1"/>
          <p:nvPr/>
        </p:nvSpPr>
        <p:spPr>
          <a:xfrm>
            <a:off x="5212080" y="2788920"/>
            <a:ext cx="1883664" cy="365760"/>
          </a:xfrm>
          <a:prstGeom prst="rect">
            <a:avLst/>
          </a:prstGeom>
          <a:noFill/>
        </p:spPr>
        <p:txBody>
          <a:bodyPr wrap="none">
            <a:spAutoFit/>
          </a:bodyPr>
          <a:lstStyle/>
          <a:p>
            <a:pPr>
              <a:defRPr sz="1000" b="1">
                <a:solidFill>
                  <a:srgbClr val="0891B2"/>
                </a:solidFill>
              </a:defRPr>
            </a:pPr>
            <a:r>
              <a:t>[FR-07 (Độc quyền)]</a:t>
            </a:r>
          </a:p>
        </p:txBody>
      </p:sp>
      <p:sp>
        <p:nvSpPr>
          <p:cNvPr id="19" name="TextBox 18"/>
          <p:cNvSpPr txBox="1"/>
          <p:nvPr/>
        </p:nvSpPr>
        <p:spPr>
          <a:xfrm>
            <a:off x="5212080" y="3154680"/>
            <a:ext cx="1883664" cy="2011680"/>
          </a:xfrm>
          <a:prstGeom prst="rect">
            <a:avLst/>
          </a:prstGeom>
          <a:noFill/>
        </p:spPr>
        <p:txBody>
          <a:bodyPr wrap="square">
            <a:spAutoFit/>
          </a:bodyPr>
          <a:lstStyle/>
          <a:p>
            <a:pPr>
              <a:defRPr sz="1000">
                <a:solidFill>
                  <a:srgbClr val="0F172A"/>
                </a:solidFill>
              </a:defRPr>
            </a:pPr>
            <a:r>
              <a:t>• Hậu kiểm 3 tầng tự động</a:t>
            </a:r>
            <a:br/>
            <a:r>
              <a:t>• Chặn đứng 100% xin đáp số</a:t>
            </a:r>
            <a:br/>
            <a:r>
              <a:t>• Chống Jailbreak / Prompt injection</a:t>
            </a:r>
          </a:p>
        </p:txBody>
      </p:sp>
      <p:sp>
        <p:nvSpPr>
          <p:cNvPr id="20" name="Rounded Rectangle 19"/>
          <p:cNvSpPr/>
          <p:nvPr/>
        </p:nvSpPr>
        <p:spPr>
          <a:xfrm>
            <a:off x="7315199" y="1371600"/>
            <a:ext cx="2066543" cy="3931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52359" y="1554480"/>
            <a:ext cx="1792224" cy="4572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TRẠM 4</a:t>
            </a:r>
          </a:p>
        </p:txBody>
      </p:sp>
      <p:sp>
        <p:nvSpPr>
          <p:cNvPr id="22" name="TextBox 21"/>
          <p:cNvSpPr txBox="1"/>
          <p:nvPr/>
        </p:nvSpPr>
        <p:spPr>
          <a:xfrm>
            <a:off x="7406639" y="2103120"/>
            <a:ext cx="1883664" cy="731520"/>
          </a:xfrm>
          <a:prstGeom prst="rect">
            <a:avLst/>
          </a:prstGeom>
          <a:noFill/>
        </p:spPr>
        <p:txBody>
          <a:bodyPr wrap="square">
            <a:spAutoFit/>
          </a:bodyPr>
          <a:lstStyle/>
          <a:p>
            <a:pPr>
              <a:defRPr sz="1200" b="1">
                <a:solidFill>
                  <a:srgbClr val="0F172A"/>
                </a:solidFill>
              </a:defRPr>
            </a:pPr>
            <a:r>
              <a:t>Trạm 4: Sơ đồ Tư duy</a:t>
            </a:r>
          </a:p>
        </p:txBody>
      </p:sp>
      <p:sp>
        <p:nvSpPr>
          <p:cNvPr id="23" name="TextBox 22"/>
          <p:cNvSpPr txBox="1"/>
          <p:nvPr/>
        </p:nvSpPr>
        <p:spPr>
          <a:xfrm>
            <a:off x="7406639" y="2788920"/>
            <a:ext cx="1883664" cy="365760"/>
          </a:xfrm>
          <a:prstGeom prst="rect">
            <a:avLst/>
          </a:prstGeom>
          <a:noFill/>
        </p:spPr>
        <p:txBody>
          <a:bodyPr wrap="none">
            <a:spAutoFit/>
          </a:bodyPr>
          <a:lstStyle/>
          <a:p>
            <a:pPr>
              <a:defRPr sz="1000" b="1">
                <a:solidFill>
                  <a:srgbClr val="0891B2"/>
                </a:solidFill>
              </a:defRPr>
            </a:pPr>
            <a:r>
              <a:t>[FR-06, FR-08, FR-09]</a:t>
            </a:r>
          </a:p>
        </p:txBody>
      </p:sp>
      <p:sp>
        <p:nvSpPr>
          <p:cNvPr id="24" name="TextBox 23"/>
          <p:cNvSpPr txBox="1"/>
          <p:nvPr/>
        </p:nvSpPr>
        <p:spPr>
          <a:xfrm>
            <a:off x="7406639" y="3154680"/>
            <a:ext cx="1883664" cy="2011680"/>
          </a:xfrm>
          <a:prstGeom prst="rect">
            <a:avLst/>
          </a:prstGeom>
          <a:noFill/>
        </p:spPr>
        <p:txBody>
          <a:bodyPr wrap="square">
            <a:spAutoFit/>
          </a:bodyPr>
          <a:lstStyle/>
          <a:p>
            <a:pPr>
              <a:defRPr sz="1000">
                <a:solidFill>
                  <a:srgbClr val="0F172A"/>
                </a:solidFill>
              </a:defRPr>
            </a:pPr>
            <a:r>
              <a:t>• Mở khóa sau khi tự đúc kết</a:t>
            </a:r>
            <a:br/>
            <a:r>
              <a:t>• Cây tri thức KHTN rẽ nhánh</a:t>
            </a:r>
            <a:br/>
            <a:r>
              <a:t>• Sổ tay Tự học lưu trữ vĩnh viễn</a:t>
            </a:r>
          </a:p>
        </p:txBody>
      </p:sp>
      <p:sp>
        <p:nvSpPr>
          <p:cNvPr id="25" name="Rounded Rectangle 24"/>
          <p:cNvSpPr/>
          <p:nvPr/>
        </p:nvSpPr>
        <p:spPr>
          <a:xfrm>
            <a:off x="9509760" y="1371600"/>
            <a:ext cx="2066543" cy="3931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646920" y="1554480"/>
            <a:ext cx="1792224" cy="4572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TRẠM 5</a:t>
            </a:r>
          </a:p>
        </p:txBody>
      </p:sp>
      <p:sp>
        <p:nvSpPr>
          <p:cNvPr id="27" name="TextBox 26"/>
          <p:cNvSpPr txBox="1"/>
          <p:nvPr/>
        </p:nvSpPr>
        <p:spPr>
          <a:xfrm>
            <a:off x="9601200" y="2103120"/>
            <a:ext cx="1883664" cy="731520"/>
          </a:xfrm>
          <a:prstGeom prst="rect">
            <a:avLst/>
          </a:prstGeom>
          <a:noFill/>
        </p:spPr>
        <p:txBody>
          <a:bodyPr wrap="square">
            <a:spAutoFit/>
          </a:bodyPr>
          <a:lstStyle/>
          <a:p>
            <a:pPr>
              <a:defRPr sz="1200" b="1">
                <a:solidFill>
                  <a:srgbClr val="0F172A"/>
                </a:solidFill>
              </a:defRPr>
            </a:pPr>
            <a:r>
              <a:t>Trạm 5: Đánh giá Rubric</a:t>
            </a:r>
          </a:p>
        </p:txBody>
      </p:sp>
      <p:sp>
        <p:nvSpPr>
          <p:cNvPr id="28" name="TextBox 27"/>
          <p:cNvSpPr txBox="1"/>
          <p:nvPr/>
        </p:nvSpPr>
        <p:spPr>
          <a:xfrm>
            <a:off x="9601200" y="2788920"/>
            <a:ext cx="1883664" cy="365760"/>
          </a:xfrm>
          <a:prstGeom prst="rect">
            <a:avLst/>
          </a:prstGeom>
          <a:noFill/>
        </p:spPr>
        <p:txBody>
          <a:bodyPr wrap="none">
            <a:spAutoFit/>
          </a:bodyPr>
          <a:lstStyle/>
          <a:p>
            <a:pPr>
              <a:defRPr sz="1000" b="1">
                <a:solidFill>
                  <a:srgbClr val="0891B2"/>
                </a:solidFill>
              </a:defRPr>
            </a:pPr>
            <a:r>
              <a:t>[Tiêu chuẩn Sư phạm]</a:t>
            </a:r>
          </a:p>
        </p:txBody>
      </p:sp>
      <p:sp>
        <p:nvSpPr>
          <p:cNvPr id="29" name="TextBox 28"/>
          <p:cNvSpPr txBox="1"/>
          <p:nvPr/>
        </p:nvSpPr>
        <p:spPr>
          <a:xfrm>
            <a:off x="9601200" y="3154680"/>
            <a:ext cx="1883664" cy="2011680"/>
          </a:xfrm>
          <a:prstGeom prst="rect">
            <a:avLst/>
          </a:prstGeom>
          <a:noFill/>
        </p:spPr>
        <p:txBody>
          <a:bodyPr wrap="square">
            <a:spAutoFit/>
          </a:bodyPr>
          <a:lstStyle/>
          <a:p>
            <a:pPr>
              <a:defRPr sz="1000">
                <a:solidFill>
                  <a:srgbClr val="0F172A"/>
                </a:solidFill>
              </a:defRPr>
            </a:pPr>
            <a:r>
              <a:t>• Chấm tiến bộ 3 tiêu chí (0-6đ)</a:t>
            </a:r>
            <a:br/>
            <a:r>
              <a:t>• Bảng theo dõi nhận thức học sinh</a:t>
            </a:r>
            <a:br/>
            <a:r>
              <a:t>• Đánh giá công tâm, định lượng</a:t>
            </a:r>
          </a:p>
        </p:txBody>
      </p:sp>
      <p:sp>
        <p:nvSpPr>
          <p:cNvPr id="30" name="Rounded Rectangle 29"/>
          <p:cNvSpPr/>
          <p:nvPr/>
        </p:nvSpPr>
        <p:spPr>
          <a:xfrm>
            <a:off x="731520" y="5486400"/>
            <a:ext cx="10728655" cy="822960"/>
          </a:xfrm>
          <a:prstGeom prst="roundRect">
            <a:avLst/>
          </a:prstGeom>
          <a:solidFill>
            <a:srgbClr val="F1F5F9"/>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532120"/>
            <a:ext cx="10332720" cy="685800"/>
          </a:xfrm>
          <a:prstGeom prst="rect">
            <a:avLst/>
          </a:prstGeom>
          <a:noFill/>
        </p:spPr>
        <p:txBody>
          <a:bodyPr wrap="none">
            <a:spAutoFit/>
          </a:bodyPr>
          <a:lstStyle/>
          <a:p>
            <a:pPr>
              <a:defRPr sz="1100" b="1">
                <a:solidFill>
                  <a:srgbClr val="1E3A8A"/>
                </a:solidFill>
              </a:defRPr>
            </a:pPr>
            <a:r>
              <a:t>⚡ ĐIỂM SÁNG HIỆU NĂNG: Tốc độ phản hồi AI chỉ 2.5 - 3.5 giây/lượt (nhờ tối ưu reasoning_effort='low' và JSON Schema chặt chẽ), trang bị nhịp tim đếm giây động chống treo giao diện Windows 100%.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10698480" cy="320040"/>
          </a:xfrm>
          <a:prstGeom prst="rect">
            <a:avLst/>
          </a:prstGeom>
          <a:noFill/>
        </p:spPr>
        <p:txBody>
          <a:bodyPr wrap="square">
            <a:spAutoFit/>
          </a:bodyPr>
          <a:lstStyle/>
          <a:p>
            <a:pPr>
              <a:defRPr sz="1000" b="1">
                <a:solidFill>
                  <a:srgbClr val="0891B2"/>
                </a:solidFill>
              </a:defRPr>
            </a:pPr>
            <a:r>
              <a:t>DỰ ÁN SOCRATES NHÍ 💡 | BẢNG A - CUỘC THI SÁNG TẠO TRẺ QUỐC GIA AI 2026</a:t>
            </a:r>
          </a:p>
        </p:txBody>
      </p:sp>
      <p:sp>
        <p:nvSpPr>
          <p:cNvPr id="4" name="TextBox 3"/>
          <p:cNvSpPr txBox="1"/>
          <p:nvPr/>
        </p:nvSpPr>
        <p:spPr>
          <a:xfrm>
            <a:off x="731520" y="548640"/>
            <a:ext cx="10698480" cy="640080"/>
          </a:xfrm>
          <a:prstGeom prst="rect">
            <a:avLst/>
          </a:prstGeom>
          <a:noFill/>
        </p:spPr>
        <p:txBody>
          <a:bodyPr wrap="square">
            <a:spAutoFit/>
          </a:bodyPr>
          <a:lstStyle/>
          <a:p>
            <a:pPr>
              <a:defRPr sz="2200" b="1">
                <a:solidFill>
                  <a:srgbClr val="0F172A"/>
                </a:solidFill>
              </a:defRPr>
            </a:pPr>
            <a:r>
              <a:t>4. Đột phá Kỹ thuật: Khiên Guardrail 3 Tầng &amp; Chế độ Offline</a:t>
            </a:r>
          </a:p>
        </p:txBody>
      </p:sp>
      <p:sp>
        <p:nvSpPr>
          <p:cNvPr id="5" name="Rounded Rectangle 4"/>
          <p:cNvSpPr/>
          <p:nvPr/>
        </p:nvSpPr>
        <p:spPr>
          <a:xfrm>
            <a:off x="731520" y="1371600"/>
            <a:ext cx="521208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54480"/>
            <a:ext cx="4663440" cy="4572000"/>
          </a:xfrm>
          <a:prstGeom prst="rect">
            <a:avLst/>
          </a:prstGeom>
          <a:noFill/>
        </p:spPr>
        <p:txBody>
          <a:bodyPr wrap="square">
            <a:spAutoFit/>
          </a:bodyPr>
          <a:lstStyle/>
          <a:p>
            <a:pPr>
              <a:defRPr sz="1400" b="1">
                <a:solidFill>
                  <a:srgbClr val="1E3A8A"/>
                </a:solidFill>
              </a:defRPr>
            </a:pPr>
            <a:r>
              <a:t>🛡️ KHIÊN AN TOÀN GUARDRAIL 3 TẦNG (FR-07)</a:t>
            </a:r>
          </a:p>
          <a:p>
            <a:pPr>
              <a:spcBef>
                <a:spcPts val="800"/>
              </a:spcBef>
              <a:defRPr sz="1150" b="1">
                <a:solidFill>
                  <a:srgbClr val="2563EB"/>
                </a:solidFill>
              </a:defRPr>
            </a:pPr>
            <a:r>
              <a:t>Tầng 1 - Kỷ luật Tiền kiểm (Prompt Layer):</a:t>
            </a:r>
          </a:p>
          <a:p>
            <a:pPr>
              <a:defRPr sz="1050">
                <a:solidFill>
                  <a:srgbClr val="0F172A"/>
                </a:solidFill>
              </a:defRPr>
            </a:pPr>
            <a:r>
              <a:t>Cấm tuyệt đối trả lời luôn, cấm viết ra công thức đích hoặc đáp số; bắt buộc từ chối khéo khi học sinh xin làm hộ.</a:t>
            </a:r>
          </a:p>
          <a:p>
            <a:pPr>
              <a:spcBef>
                <a:spcPts val="800"/>
              </a:spcBef>
              <a:defRPr sz="1150" b="1">
                <a:solidFill>
                  <a:srgbClr val="2563EB"/>
                </a:solidFill>
              </a:defRPr>
            </a:pPr>
            <a:r>
              <a:t>Tầng 2 - Khử rò rỉ Hình thức (Pattern Filter):</a:t>
            </a:r>
          </a:p>
          <a:p>
            <a:pPr>
              <a:defRPr sz="1050">
                <a:solidFill>
                  <a:srgbClr val="0F172A"/>
                </a:solidFill>
              </a:defRPr>
            </a:pPr>
            <a:r>
              <a:t>Bộ lọc Regex quét tự động các mẫu lộ số ('kết quả là 24', 'v = s/t'). Nếu phát hiện, lập tức thay bằng câu Fallback sư phạm an toàn.</a:t>
            </a:r>
          </a:p>
          <a:p>
            <a:pPr>
              <a:spcBef>
                <a:spcPts val="800"/>
              </a:spcBef>
              <a:defRPr sz="1150" b="1">
                <a:solidFill>
                  <a:srgbClr val="2563EB"/>
                </a:solidFill>
              </a:defRPr>
            </a:pPr>
            <a:r>
              <a:t>Tầng 3 - Hậu kiểm Ngữ nghĩa (Audit Inspector):</a:t>
            </a:r>
          </a:p>
          <a:p>
            <a:pPr>
              <a:defRPr sz="1050">
                <a:solidFill>
                  <a:srgbClr val="0F172A"/>
                </a:solidFill>
              </a:defRPr>
            </a:pPr>
            <a:r>
              <a:t>Phân tích câu trả lời của AI trước khi đẩy lên giao diện chat, đảm bảo không rò rỉ kiến thức dù model AI có bị 'hallucination'.</a:t>
            </a:r>
          </a:p>
        </p:txBody>
      </p:sp>
      <p:sp>
        <p:nvSpPr>
          <p:cNvPr id="7" name="Rounded Rectangle 6"/>
          <p:cNvSpPr/>
          <p:nvPr/>
        </p:nvSpPr>
        <p:spPr>
          <a:xfrm>
            <a:off x="6217920" y="1371600"/>
            <a:ext cx="5212080" cy="4937760"/>
          </a:xfrm>
          <a:prstGeom prst="roundRect">
            <a:avLst/>
          </a:prstGeom>
          <a:solidFill>
            <a:srgbClr val="FEFCE8"/>
          </a:solidFill>
          <a:ln w="15240">
            <a:solidFill>
              <a:srgbClr val="FEF0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54480"/>
            <a:ext cx="4663440" cy="4572000"/>
          </a:xfrm>
          <a:prstGeom prst="rect">
            <a:avLst/>
          </a:prstGeom>
          <a:noFill/>
        </p:spPr>
        <p:txBody>
          <a:bodyPr wrap="square">
            <a:spAutoFit/>
          </a:bodyPr>
          <a:lstStyle/>
          <a:p>
            <a:pPr>
              <a:defRPr sz="1400" b="1">
                <a:solidFill>
                  <a:srgbClr val="B45309"/>
                </a:solidFill>
              </a:defRPr>
            </a:pPr>
            <a:r>
              <a:t>⚡ CHẾ ĐỘ DEMO OFFLINE 12 BÀI MẪU (FR-10)</a:t>
            </a:r>
          </a:p>
          <a:p>
            <a:pPr>
              <a:spcBef>
                <a:spcPts val="800"/>
              </a:spcBef>
              <a:defRPr sz="1150" b="1">
                <a:solidFill>
                  <a:srgbClr val="B45309"/>
                </a:solidFill>
              </a:defRPr>
            </a:pPr>
            <a:r>
              <a:t>Bài toán thực tế tại Hội trường thi:</a:t>
            </a:r>
          </a:p>
          <a:p>
            <a:pPr>
              <a:defRPr sz="1050">
                <a:solidFill>
                  <a:srgbClr val="0F172A"/>
                </a:solidFill>
              </a:defRPr>
            </a:pPr>
            <a:r>
              <a:t>Mạng Wifi hội trường thường quá tải, chập chờn, khiến các ứng dụng phụ thuộc 100% vào Cloud API bị đơ hoặc báo lỗi.</a:t>
            </a:r>
          </a:p>
          <a:p>
            <a:pPr>
              <a:spcBef>
                <a:spcPts val="800"/>
              </a:spcBef>
              <a:defRPr sz="1150" b="1">
                <a:solidFill>
                  <a:srgbClr val="B45309"/>
                </a:solidFill>
              </a:defRPr>
            </a:pPr>
            <a:r>
              <a:t>Kho tri thức Offline chuẩn SGK KHTN 7:</a:t>
            </a:r>
          </a:p>
          <a:p>
            <a:pPr>
              <a:defRPr sz="1050">
                <a:solidFill>
                  <a:srgbClr val="0F172A"/>
                </a:solidFill>
              </a:defRPr>
            </a:pPr>
            <a:r>
              <a:t>Đóng gói sẵn lời thoại mẫu 5 pha đã được duyệt sư phạm cho 12 bài trọng tâm (Vật lý - Hóa học - Sinh học).</a:t>
            </a:r>
          </a:p>
          <a:p>
            <a:pPr>
              <a:spcBef>
                <a:spcPts val="800"/>
              </a:spcBef>
              <a:defRPr sz="1150" b="1">
                <a:solidFill>
                  <a:srgbClr val="B45309"/>
                </a:solidFill>
              </a:defRPr>
            </a:pPr>
            <a:r>
              <a:t>Chuyển đổi trong 0 giây (Instant Fallback):</a:t>
            </a:r>
          </a:p>
          <a:p>
            <a:pPr>
              <a:defRPr sz="1050">
                <a:solidFill>
                  <a:srgbClr val="0F172A"/>
                </a:solidFill>
              </a:defRPr>
            </a:pPr>
            <a:r>
              <a:t>Khi mất mạng Internet hoặc API timeout, hệ thống tự động kích hoạt huy hiệu 'Demo Offline', phiên học tiếp tục trơn tru 100%.</a:t>
            </a:r>
          </a:p>
          <a:p>
            <a:pPr>
              <a:spcBef>
                <a:spcPts val="800"/>
              </a:spcBef>
              <a:defRPr sz="1150" b="1">
                <a:solidFill>
                  <a:srgbClr val="B45309"/>
                </a:solidFill>
              </a:defRPr>
            </a:pPr>
            <a:r>
              <a:t>Tính trung thực &amp; Minh bạch:</a:t>
            </a:r>
          </a:p>
          <a:p>
            <a:pPr>
              <a:defRPr sz="1050">
                <a:solidFill>
                  <a:srgbClr val="0F172A"/>
                </a:solidFill>
              </a:defRPr>
            </a:pPr>
            <a:r>
              <a:t>Hiển thị huy hiệu Offline rõ ràng, không giả mạo kết nối, minh chứng tính sẵn sàng cao của sản phẩm.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10698480" cy="320040"/>
          </a:xfrm>
          <a:prstGeom prst="rect">
            <a:avLst/>
          </a:prstGeom>
          <a:noFill/>
        </p:spPr>
        <p:txBody>
          <a:bodyPr wrap="square">
            <a:spAutoFit/>
          </a:bodyPr>
          <a:lstStyle/>
          <a:p>
            <a:pPr>
              <a:defRPr sz="1000" b="1">
                <a:solidFill>
                  <a:srgbClr val="0891B2"/>
                </a:solidFill>
              </a:defRPr>
            </a:pPr>
            <a:r>
              <a:t>DỰ ÁN SOCRATES NHÍ 💡 | BẢNG A - CUỘC THI SÁNG TẠO TRẺ QUỐC GIA AI 2026</a:t>
            </a:r>
          </a:p>
        </p:txBody>
      </p:sp>
      <p:sp>
        <p:nvSpPr>
          <p:cNvPr id="4" name="TextBox 3"/>
          <p:cNvSpPr txBox="1"/>
          <p:nvPr/>
        </p:nvSpPr>
        <p:spPr>
          <a:xfrm>
            <a:off x="731520" y="548640"/>
            <a:ext cx="10698480" cy="640080"/>
          </a:xfrm>
          <a:prstGeom prst="rect">
            <a:avLst/>
          </a:prstGeom>
          <a:noFill/>
        </p:spPr>
        <p:txBody>
          <a:bodyPr wrap="square">
            <a:spAutoFit/>
          </a:bodyPr>
          <a:lstStyle/>
          <a:p>
            <a:pPr>
              <a:defRPr sz="2200" b="1">
                <a:solidFill>
                  <a:srgbClr val="0F172A"/>
                </a:solidFill>
              </a:defRPr>
            </a:pPr>
            <a:r>
              <a:t>5. Kết quả Kiểm nghiệm Thực tế: 5 Chỉ số MVP Đo lường</a:t>
            </a:r>
          </a:p>
        </p:txBody>
      </p:sp>
      <p:graphicFrame>
        <p:nvGraphicFramePr>
          <p:cNvPr id="5" name="Table 4"/>
          <p:cNvGraphicFramePr>
            <a:graphicFrameLocks noGrp="1"/>
          </p:cNvGraphicFramePr>
          <p:nvPr/>
        </p:nvGraphicFramePr>
        <p:xfrm>
          <a:off x="731520" y="1371600"/>
          <a:ext cx="10728655" cy="3291840"/>
        </p:xfrm>
        <a:graphic>
          <a:graphicData uri="http://schemas.openxmlformats.org/drawingml/2006/table">
            <a:tbl>
              <a:tblPr firstRow="1" bandRow="1">
                <a:tableStyleId>{5C22544A-7EE6-4342-B048-85BDC9FD1C3A}</a:tableStyleId>
              </a:tblPr>
              <a:tblGrid>
                <a:gridCol w="2560320"/>
                <a:gridCol w="2011680"/>
                <a:gridCol w="2011680"/>
                <a:gridCol w="2011680"/>
                <a:gridCol w="2133295"/>
              </a:tblGrid>
              <a:tr h="548640">
                <a:tc>
                  <a:txBody>
                    <a:bodyPr/>
                    <a:lstStyle/>
                    <a:p>
                      <a:pPr algn="ctr">
                        <a:defRPr sz="1100" b="1">
                          <a:solidFill>
                            <a:srgbClr val="FFFFFF"/>
                          </a:solidFill>
                        </a:defRPr>
                      </a:pPr>
                      <a:r>
                        <a:t>Chỉ số Đo lường (KPI)</a:t>
                      </a:r>
                    </a:p>
                  </a:txBody>
                  <a:tcPr>
                    <a:solidFill>
                      <a:srgbClr val="1E3A8A"/>
                    </a:solidFill>
                  </a:tcPr>
                </a:tc>
                <a:tc>
                  <a:txBody>
                    <a:bodyPr/>
                    <a:lstStyle/>
                    <a:p>
                      <a:pPr algn="ctr">
                        <a:defRPr sz="1100" b="1">
                          <a:solidFill>
                            <a:srgbClr val="FFFFFF"/>
                          </a:solidFill>
                        </a:defRPr>
                      </a:pPr>
                      <a:r>
                        <a:t>Mục tiêu Đề ra</a:t>
                      </a:r>
                    </a:p>
                  </a:txBody>
                  <a:tcPr>
                    <a:solidFill>
                      <a:srgbClr val="1E3A8A"/>
                    </a:solidFill>
                  </a:tcPr>
                </a:tc>
                <a:tc>
                  <a:txBody>
                    <a:bodyPr/>
                    <a:lstStyle/>
                    <a:p>
                      <a:pPr algn="ctr">
                        <a:defRPr sz="1100" b="1">
                          <a:solidFill>
                            <a:srgbClr val="FFFFFF"/>
                          </a:solidFill>
                        </a:defRPr>
                      </a:pPr>
                      <a:r>
                        <a:t>Kết quả Thực tế</a:t>
                      </a:r>
                    </a:p>
                  </a:txBody>
                  <a:tcPr>
                    <a:solidFill>
                      <a:srgbClr val="1E3A8A"/>
                    </a:solidFill>
                  </a:tcPr>
                </a:tc>
                <a:tc>
                  <a:txBody>
                    <a:bodyPr/>
                    <a:lstStyle/>
                    <a:p>
                      <a:pPr algn="ctr">
                        <a:defRPr sz="1100" b="1">
                          <a:solidFill>
                            <a:srgbClr val="FFFFFF"/>
                          </a:solidFill>
                        </a:defRPr>
                      </a:pPr>
                      <a:r>
                        <a:t>Tỷ lệ Đạt</a:t>
                      </a:r>
                    </a:p>
                  </a:txBody>
                  <a:tcPr>
                    <a:solidFill>
                      <a:srgbClr val="1E3A8A"/>
                    </a:solidFill>
                  </a:tcPr>
                </a:tc>
                <a:tc>
                  <a:txBody>
                    <a:bodyPr/>
                    <a:lstStyle/>
                    <a:p>
                      <a:pPr algn="ctr">
                        <a:defRPr sz="1100" b="1">
                          <a:solidFill>
                            <a:srgbClr val="FFFFFF"/>
                          </a:solidFill>
                        </a:defRPr>
                      </a:pPr>
                      <a:r>
                        <a:t>Đánh giá</a:t>
                      </a:r>
                    </a:p>
                  </a:txBody>
                  <a:tcPr>
                    <a:solidFill>
                      <a:srgbClr val="1E3A8A"/>
                    </a:solidFill>
                  </a:tcPr>
                </a:tc>
              </a:tr>
              <a:tr h="548640">
                <a:tc>
                  <a:txBody>
                    <a:bodyPr/>
                    <a:lstStyle/>
                    <a:p>
                      <a:pPr>
                        <a:defRPr sz="1050">
                          <a:solidFill>
                            <a:srgbClr val="0F172A"/>
                          </a:solidFill>
                        </a:defRPr>
                      </a:pPr>
                      <a:r>
                        <a:t>1. Chặn rò rỉ đáp số &amp; Jailbreak</a:t>
                      </a:r>
                    </a:p>
                  </a:txBody>
                  <a:tcPr>
                    <a:solidFill>
                      <a:srgbClr val="F8FAFC"/>
                    </a:solidFill>
                  </a:tcPr>
                </a:tc>
                <a:tc>
                  <a:txBody>
                    <a:bodyPr/>
                    <a:lstStyle/>
                    <a:p>
                      <a:pPr algn="ctr">
                        <a:defRPr sz="1050">
                          <a:solidFill>
                            <a:srgbClr val="0F172A"/>
                          </a:solidFill>
                        </a:defRPr>
                      </a:pPr>
                      <a:r>
                        <a:t>100% chặn</a:t>
                      </a:r>
                    </a:p>
                  </a:txBody>
                  <a:tcPr>
                    <a:solidFill>
                      <a:srgbClr val="F8FAFC"/>
                    </a:solidFill>
                  </a:tcPr>
                </a:tc>
                <a:tc>
                  <a:txBody>
                    <a:bodyPr/>
                    <a:lstStyle/>
                    <a:p>
                      <a:pPr algn="ctr">
                        <a:defRPr sz="1050">
                          <a:solidFill>
                            <a:srgbClr val="0F172A"/>
                          </a:solidFill>
                        </a:defRPr>
                      </a:pPr>
                      <a:r>
                        <a:t>40 / 40 ca test</a:t>
                      </a:r>
                    </a:p>
                  </a:txBody>
                  <a:tcPr>
                    <a:solidFill>
                      <a:srgbClr val="F8FAFC"/>
                    </a:solidFill>
                  </a:tcPr>
                </a:tc>
                <a:tc>
                  <a:txBody>
                    <a:bodyPr/>
                    <a:lstStyle/>
                    <a:p>
                      <a:pPr algn="ctr">
                        <a:defRPr sz="1050">
                          <a:solidFill>
                            <a:srgbClr val="0F172A"/>
                          </a:solidFill>
                        </a:defRPr>
                      </a:pPr>
                      <a:r>
                        <a:t>100%</a:t>
                      </a:r>
                    </a:p>
                  </a:txBody>
                  <a:tcPr>
                    <a:solidFill>
                      <a:srgbClr val="F8FAFC"/>
                    </a:solidFill>
                  </a:tcPr>
                </a:tc>
                <a:tc>
                  <a:txBody>
                    <a:bodyPr/>
                    <a:lstStyle/>
                    <a:p>
                      <a:pPr algn="ctr">
                        <a:defRPr sz="1050" b="1">
                          <a:solidFill>
                            <a:srgbClr val="166534"/>
                          </a:solidFill>
                        </a:defRPr>
                      </a:pPr>
                      <a:r>
                        <a:t>✅ Đạt hoàn hảo</a:t>
                      </a:r>
                    </a:p>
                  </a:txBody>
                  <a:tcPr>
                    <a:solidFill>
                      <a:srgbClr val="F8FAFC"/>
                    </a:solidFill>
                  </a:tcPr>
                </a:tc>
              </a:tr>
              <a:tr h="548640">
                <a:tc>
                  <a:txBody>
                    <a:bodyPr/>
                    <a:lstStyle/>
                    <a:p>
                      <a:pPr>
                        <a:defRPr sz="1050">
                          <a:solidFill>
                            <a:srgbClr val="0F172A"/>
                          </a:solidFill>
                        </a:defRPr>
                      </a:pPr>
                      <a:r>
                        <a:t>2. Tự giải đúng sau gợi mở</a:t>
                      </a:r>
                    </a:p>
                  </a:txBody>
                  <a:tcPr>
                    <a:solidFill>
                      <a:srgbClr val="FFFFFF"/>
                    </a:solidFill>
                  </a:tcPr>
                </a:tc>
                <a:tc>
                  <a:txBody>
                    <a:bodyPr/>
                    <a:lstStyle/>
                    <a:p>
                      <a:pPr algn="ctr">
                        <a:defRPr sz="1050">
                          <a:solidFill>
                            <a:srgbClr val="0F172A"/>
                          </a:solidFill>
                        </a:defRPr>
                      </a:pPr>
                      <a:r>
                        <a:t>&gt;= 75% học sinh</a:t>
                      </a:r>
                    </a:p>
                  </a:txBody>
                  <a:tcPr>
                    <a:solidFill>
                      <a:srgbClr val="FFFFFF"/>
                    </a:solidFill>
                  </a:tcPr>
                </a:tc>
                <a:tc>
                  <a:txBody>
                    <a:bodyPr/>
                    <a:lstStyle/>
                    <a:p>
                      <a:pPr algn="ctr">
                        <a:defRPr sz="1050">
                          <a:solidFill>
                            <a:srgbClr val="0F172A"/>
                          </a:solidFill>
                        </a:defRPr>
                      </a:pPr>
                      <a:r>
                        <a:t>13 / 15 học sinh</a:t>
                      </a:r>
                    </a:p>
                  </a:txBody>
                  <a:tcPr>
                    <a:solidFill>
                      <a:srgbClr val="FFFFFF"/>
                    </a:solidFill>
                  </a:tcPr>
                </a:tc>
                <a:tc>
                  <a:txBody>
                    <a:bodyPr/>
                    <a:lstStyle/>
                    <a:p>
                      <a:pPr algn="ctr">
                        <a:defRPr sz="1050">
                          <a:solidFill>
                            <a:srgbClr val="0F172A"/>
                          </a:solidFill>
                        </a:defRPr>
                      </a:pPr>
                      <a:r>
                        <a:t>86.7%</a:t>
                      </a:r>
                    </a:p>
                  </a:txBody>
                  <a:tcPr>
                    <a:solidFill>
                      <a:srgbClr val="FFFFFF"/>
                    </a:solidFill>
                  </a:tcPr>
                </a:tc>
                <a:tc>
                  <a:txBody>
                    <a:bodyPr/>
                    <a:lstStyle/>
                    <a:p>
                      <a:pPr algn="ctr">
                        <a:defRPr sz="1050" b="1">
                          <a:solidFill>
                            <a:srgbClr val="166534"/>
                          </a:solidFill>
                        </a:defRPr>
                      </a:pPr>
                      <a:r>
                        <a:t>✅ Vượt mục tiêu</a:t>
                      </a:r>
                    </a:p>
                  </a:txBody>
                  <a:tcPr>
                    <a:solidFill>
                      <a:srgbClr val="FFFFFF"/>
                    </a:solidFill>
                  </a:tcPr>
                </a:tc>
              </a:tr>
              <a:tr h="548640">
                <a:tc>
                  <a:txBody>
                    <a:bodyPr/>
                    <a:lstStyle/>
                    <a:p>
                      <a:pPr>
                        <a:defRPr sz="1050">
                          <a:solidFill>
                            <a:srgbClr val="0F172A"/>
                          </a:solidFill>
                        </a:defRPr>
                      </a:pPr>
                      <a:r>
                        <a:t>3. Tiến bộ lập luận (Rubric &gt;= 4/6)</a:t>
                      </a:r>
                    </a:p>
                  </a:txBody>
                  <a:tcPr>
                    <a:solidFill>
                      <a:srgbClr val="F8FAFC"/>
                    </a:solidFill>
                  </a:tcPr>
                </a:tc>
                <a:tc>
                  <a:txBody>
                    <a:bodyPr/>
                    <a:lstStyle/>
                    <a:p>
                      <a:pPr algn="ctr">
                        <a:defRPr sz="1050">
                          <a:solidFill>
                            <a:srgbClr val="0F172A"/>
                          </a:solidFill>
                        </a:defRPr>
                      </a:pPr>
                      <a:r>
                        <a:t>&gt;= 70% đạt chuẩn</a:t>
                      </a:r>
                    </a:p>
                  </a:txBody>
                  <a:tcPr>
                    <a:solidFill>
                      <a:srgbClr val="F8FAFC"/>
                    </a:solidFill>
                  </a:tcPr>
                </a:tc>
                <a:tc>
                  <a:txBody>
                    <a:bodyPr/>
                    <a:lstStyle/>
                    <a:p>
                      <a:pPr algn="ctr">
                        <a:defRPr sz="1050">
                          <a:solidFill>
                            <a:srgbClr val="0F172A"/>
                          </a:solidFill>
                        </a:defRPr>
                      </a:pPr>
                      <a:r>
                        <a:t>12 / 15 học sinh</a:t>
                      </a:r>
                    </a:p>
                  </a:txBody>
                  <a:tcPr>
                    <a:solidFill>
                      <a:srgbClr val="F8FAFC"/>
                    </a:solidFill>
                  </a:tcPr>
                </a:tc>
                <a:tc>
                  <a:txBody>
                    <a:bodyPr/>
                    <a:lstStyle/>
                    <a:p>
                      <a:pPr algn="ctr">
                        <a:defRPr sz="1050">
                          <a:solidFill>
                            <a:srgbClr val="0F172A"/>
                          </a:solidFill>
                        </a:defRPr>
                      </a:pPr>
                      <a:r>
                        <a:t>80.0%</a:t>
                      </a:r>
                    </a:p>
                  </a:txBody>
                  <a:tcPr>
                    <a:solidFill>
                      <a:srgbClr val="F8FAFC"/>
                    </a:solidFill>
                  </a:tcPr>
                </a:tc>
                <a:tc>
                  <a:txBody>
                    <a:bodyPr/>
                    <a:lstStyle/>
                    <a:p>
                      <a:pPr algn="ctr">
                        <a:defRPr sz="1050" b="1">
                          <a:solidFill>
                            <a:srgbClr val="166534"/>
                          </a:solidFill>
                        </a:defRPr>
                      </a:pPr>
                      <a:r>
                        <a:t>✅ Vượt mục tiêu</a:t>
                      </a:r>
                    </a:p>
                  </a:txBody>
                  <a:tcPr>
                    <a:solidFill>
                      <a:srgbClr val="F8FAFC"/>
                    </a:solidFill>
                  </a:tcPr>
                </a:tc>
              </a:tr>
              <a:tr h="548640">
                <a:tc>
                  <a:txBody>
                    <a:bodyPr/>
                    <a:lstStyle/>
                    <a:p>
                      <a:pPr>
                        <a:defRPr sz="1050">
                          <a:solidFill>
                            <a:srgbClr val="0F172A"/>
                          </a:solidFill>
                        </a:defRPr>
                      </a:pPr>
                      <a:r>
                        <a:t>4. Nhận diện đề bài (OCR / Giọng nói)</a:t>
                      </a:r>
                    </a:p>
                  </a:txBody>
                  <a:tcPr>
                    <a:solidFill>
                      <a:srgbClr val="FFFFFF"/>
                    </a:solidFill>
                  </a:tcPr>
                </a:tc>
                <a:tc>
                  <a:txBody>
                    <a:bodyPr/>
                    <a:lstStyle/>
                    <a:p>
                      <a:pPr algn="ctr">
                        <a:defRPr sz="1050">
                          <a:solidFill>
                            <a:srgbClr val="0F172A"/>
                          </a:solidFill>
                        </a:defRPr>
                      </a:pPr>
                      <a:r>
                        <a:t>&gt;= 80% chính xác</a:t>
                      </a:r>
                    </a:p>
                  </a:txBody>
                  <a:tcPr>
                    <a:solidFill>
                      <a:srgbClr val="FFFFFF"/>
                    </a:solidFill>
                  </a:tcPr>
                </a:tc>
                <a:tc>
                  <a:txBody>
                    <a:bodyPr/>
                    <a:lstStyle/>
                    <a:p>
                      <a:pPr algn="ctr">
                        <a:defRPr sz="1050">
                          <a:solidFill>
                            <a:srgbClr val="0F172A"/>
                          </a:solidFill>
                        </a:defRPr>
                      </a:pPr>
                      <a:r>
                        <a:t>18 / 20 bài test</a:t>
                      </a:r>
                    </a:p>
                  </a:txBody>
                  <a:tcPr>
                    <a:solidFill>
                      <a:srgbClr val="FFFFFF"/>
                    </a:solidFill>
                  </a:tcPr>
                </a:tc>
                <a:tc>
                  <a:txBody>
                    <a:bodyPr/>
                    <a:lstStyle/>
                    <a:p>
                      <a:pPr algn="ctr">
                        <a:defRPr sz="1050">
                          <a:solidFill>
                            <a:srgbClr val="0F172A"/>
                          </a:solidFill>
                        </a:defRPr>
                      </a:pPr>
                      <a:r>
                        <a:t>90.0%</a:t>
                      </a:r>
                    </a:p>
                  </a:txBody>
                  <a:tcPr>
                    <a:solidFill>
                      <a:srgbClr val="FFFFFF"/>
                    </a:solidFill>
                  </a:tcPr>
                </a:tc>
                <a:tc>
                  <a:txBody>
                    <a:bodyPr/>
                    <a:lstStyle/>
                    <a:p>
                      <a:pPr algn="ctr">
                        <a:defRPr sz="1050" b="1">
                          <a:solidFill>
                            <a:srgbClr val="166534"/>
                          </a:solidFill>
                        </a:defRPr>
                      </a:pPr>
                      <a:r>
                        <a:t>✅ Vượt mục tiêu</a:t>
                      </a:r>
                    </a:p>
                  </a:txBody>
                  <a:tcPr>
                    <a:solidFill>
                      <a:srgbClr val="FFFFFF"/>
                    </a:solidFill>
                  </a:tcPr>
                </a:tc>
              </a:tr>
              <a:tr h="548640">
                <a:tc>
                  <a:txBody>
                    <a:bodyPr/>
                    <a:lstStyle/>
                    <a:p>
                      <a:pPr>
                        <a:defRPr sz="1050">
                          <a:solidFill>
                            <a:srgbClr val="0F172A"/>
                          </a:solidFill>
                        </a:defRPr>
                      </a:pPr>
                      <a:r>
                        <a:t>5. Tốc độ phản hồi trung bình</a:t>
                      </a:r>
                    </a:p>
                  </a:txBody>
                  <a:tcPr>
                    <a:solidFill>
                      <a:srgbClr val="F8FAFC"/>
                    </a:solidFill>
                  </a:tcPr>
                </a:tc>
                <a:tc>
                  <a:txBody>
                    <a:bodyPr/>
                    <a:lstStyle/>
                    <a:p>
                      <a:pPr algn="ctr">
                        <a:defRPr sz="1050">
                          <a:solidFill>
                            <a:srgbClr val="0F172A"/>
                          </a:solidFill>
                        </a:defRPr>
                      </a:pPr>
                      <a:r>
                        <a:t>&lt;= 5.0 giây/lượt</a:t>
                      </a:r>
                    </a:p>
                  </a:txBody>
                  <a:tcPr>
                    <a:solidFill>
                      <a:srgbClr val="F8FAFC"/>
                    </a:solidFill>
                  </a:tcPr>
                </a:tc>
                <a:tc>
                  <a:txBody>
                    <a:bodyPr/>
                    <a:lstStyle/>
                    <a:p>
                      <a:pPr algn="ctr">
                        <a:defRPr sz="1050">
                          <a:solidFill>
                            <a:srgbClr val="0F172A"/>
                          </a:solidFill>
                        </a:defRPr>
                      </a:pPr>
                      <a:r>
                        <a:t>2.8 giây/lượt</a:t>
                      </a:r>
                    </a:p>
                  </a:txBody>
                  <a:tcPr>
                    <a:solidFill>
                      <a:srgbClr val="F8FAFC"/>
                    </a:solidFill>
                  </a:tcPr>
                </a:tc>
                <a:tc>
                  <a:txBody>
                    <a:bodyPr/>
                    <a:lstStyle/>
                    <a:p>
                      <a:pPr algn="ctr">
                        <a:defRPr sz="1050">
                          <a:solidFill>
                            <a:srgbClr val="0F172A"/>
                          </a:solidFill>
                        </a:defRPr>
                      </a:pPr>
                      <a:r>
                        <a:t>100% mượt</a:t>
                      </a:r>
                    </a:p>
                  </a:txBody>
                  <a:tcPr>
                    <a:solidFill>
                      <a:srgbClr val="F8FAFC"/>
                    </a:solidFill>
                  </a:tcPr>
                </a:tc>
                <a:tc>
                  <a:txBody>
                    <a:bodyPr/>
                    <a:lstStyle/>
                    <a:p>
                      <a:pPr algn="ctr">
                        <a:defRPr sz="1050" b="1">
                          <a:solidFill>
                            <a:srgbClr val="166534"/>
                          </a:solidFill>
                        </a:defRPr>
                      </a:pPr>
                      <a:r>
                        <a:t>✅ Cực nhanh</a:t>
                      </a:r>
                    </a:p>
                  </a:txBody>
                  <a:tcPr>
                    <a:solidFill>
                      <a:srgbClr val="F8FAFC"/>
                    </a:solidFill>
                  </a:tcPr>
                </a:tc>
              </a:tr>
            </a:tbl>
          </a:graphicData>
        </a:graphic>
      </p:graphicFrame>
      <p:sp>
        <p:nvSpPr>
          <p:cNvPr id="6" name="Rounded Rectangle 5"/>
          <p:cNvSpPr/>
          <p:nvPr/>
        </p:nvSpPr>
        <p:spPr>
          <a:xfrm>
            <a:off x="731520" y="4937760"/>
            <a:ext cx="10728655" cy="137160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4983480"/>
            <a:ext cx="10149840" cy="1188720"/>
          </a:xfrm>
          <a:prstGeom prst="rect">
            <a:avLst/>
          </a:prstGeom>
          <a:noFill/>
        </p:spPr>
        <p:txBody>
          <a:bodyPr wrap="square">
            <a:spAutoFit/>
          </a:bodyPr>
          <a:lstStyle/>
          <a:p>
            <a:pPr>
              <a:defRPr sz="1150" b="1">
                <a:solidFill>
                  <a:srgbClr val="166534"/>
                </a:solidFill>
              </a:defRPr>
            </a:pPr>
            <a:r>
              <a:t>📊 PHIẾU CHẤM RUBRIC SƯ PHẠM ĐỘC LẬP &amp; BỘ TEST TỰ ĐỘNG:</a:t>
            </a:r>
          </a:p>
          <a:p>
            <a:pPr>
              <a:defRPr sz="1000">
                <a:solidFill>
                  <a:srgbClr val="0F172A"/>
                </a:solidFill>
              </a:defRPr>
            </a:pPr>
            <a:r>
              <a:t>• Rubric 3 tiêu chí khoa học (Nêu dữ kiện 0-2đ, Nêu khái niệm 0-2đ, Đề xuất bước tiếp theo 0-2đ): Giúp đo lường khách quan sự trưởng thành tư duy của từng em học sinh sau mỗi buổi học.</a:t>
            </a:r>
            <a:br/>
            <a:r>
              <a:t>• Bộ Kiểm thử Tự động: Chạy thành công 100% các bài Unit Tests kiểm tra State Machine, Guardrail và OCR trước khi đóng gói sản phẩm.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10698480" cy="320040"/>
          </a:xfrm>
          <a:prstGeom prst="rect">
            <a:avLst/>
          </a:prstGeom>
          <a:noFill/>
        </p:spPr>
        <p:txBody>
          <a:bodyPr wrap="square">
            <a:spAutoFit/>
          </a:bodyPr>
          <a:lstStyle/>
          <a:p>
            <a:pPr>
              <a:defRPr sz="1000" b="1">
                <a:solidFill>
                  <a:srgbClr val="0891B2"/>
                </a:solidFill>
              </a:defRPr>
            </a:pPr>
            <a:r>
              <a:t>DỰ ÁN SOCRATES NHÍ 💡 | BẢNG A - CUỘC THI SÁNG TẠO TRẺ QUỐC GIA AI 2026</a:t>
            </a:r>
          </a:p>
        </p:txBody>
      </p:sp>
      <p:sp>
        <p:nvSpPr>
          <p:cNvPr id="4" name="TextBox 3"/>
          <p:cNvSpPr txBox="1"/>
          <p:nvPr/>
        </p:nvSpPr>
        <p:spPr>
          <a:xfrm>
            <a:off x="731520" y="548640"/>
            <a:ext cx="10698480" cy="640080"/>
          </a:xfrm>
          <a:prstGeom prst="rect">
            <a:avLst/>
          </a:prstGeom>
          <a:noFill/>
        </p:spPr>
        <p:txBody>
          <a:bodyPr wrap="square">
            <a:spAutoFit/>
          </a:bodyPr>
          <a:lstStyle/>
          <a:p>
            <a:pPr>
              <a:defRPr sz="2200" b="1">
                <a:solidFill>
                  <a:srgbClr val="0F172A"/>
                </a:solidFill>
              </a:defRPr>
            </a:pPr>
            <a:r>
              <a:t>6. Đạo đức AI &amp; Bảo vệ Quyền Riêng tư Học sinh</a:t>
            </a:r>
          </a:p>
        </p:txBody>
      </p:sp>
      <p:sp>
        <p:nvSpPr>
          <p:cNvPr id="5" name="Rounded Rectangle 4"/>
          <p:cNvSpPr/>
          <p:nvPr/>
        </p:nvSpPr>
        <p:spPr>
          <a:xfrm>
            <a:off x="731520" y="1371600"/>
            <a:ext cx="521208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554480"/>
            <a:ext cx="4754880" cy="1828800"/>
          </a:xfrm>
          <a:prstGeom prst="rect">
            <a:avLst/>
          </a:prstGeom>
          <a:noFill/>
        </p:spPr>
        <p:txBody>
          <a:bodyPr wrap="square">
            <a:spAutoFit/>
          </a:bodyPr>
          <a:lstStyle/>
          <a:p>
            <a:pPr>
              <a:defRPr sz="1300" b="1">
                <a:solidFill>
                  <a:srgbClr val="1E3A8A"/>
                </a:solidFill>
              </a:defRPr>
            </a:pPr>
            <a:r>
              <a:t>🔒 Ẩn danh 100% PII (Không thu thập thông tin)</a:t>
            </a:r>
          </a:p>
          <a:p>
            <a:pPr>
              <a:spcBef>
                <a:spcPts val="800"/>
              </a:spcBef>
              <a:defRPr sz="1100">
                <a:solidFill>
                  <a:srgbClr val="0F172A"/>
                </a:solidFill>
              </a:defRPr>
            </a:pPr>
            <a:r>
              <a:t>Ứng dụng tuyệt đối KHÔNG yêu cầu họ tên thật, trường lớp, số điện thoại hay email cá nhân. Học sinh có thể học ẩn danh hoàn toàn.</a:t>
            </a:r>
          </a:p>
        </p:txBody>
      </p:sp>
      <p:sp>
        <p:nvSpPr>
          <p:cNvPr id="7" name="Rounded Rectangle 6"/>
          <p:cNvSpPr/>
          <p:nvPr/>
        </p:nvSpPr>
        <p:spPr>
          <a:xfrm>
            <a:off x="6217920" y="1371600"/>
            <a:ext cx="521208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554480"/>
            <a:ext cx="4754880" cy="1828800"/>
          </a:xfrm>
          <a:prstGeom prst="rect">
            <a:avLst/>
          </a:prstGeom>
          <a:noFill/>
        </p:spPr>
        <p:txBody>
          <a:bodyPr wrap="square">
            <a:spAutoFit/>
          </a:bodyPr>
          <a:lstStyle/>
          <a:p>
            <a:pPr>
              <a:defRPr sz="1300" b="1">
                <a:solidFill>
                  <a:srgbClr val="1E3A8A"/>
                </a:solidFill>
              </a:defRPr>
            </a:pPr>
            <a:r>
              <a:t>🗑️ Tự động Dọn sạch Ảnh tạm (Auto Cleanup)</a:t>
            </a:r>
          </a:p>
          <a:p>
            <a:pPr>
              <a:spcBef>
                <a:spcPts val="800"/>
              </a:spcBef>
              <a:defRPr sz="1100">
                <a:solidFill>
                  <a:srgbClr val="0F172A"/>
                </a:solidFill>
              </a:defRPr>
            </a:pPr>
            <a:r>
              <a:t>Các tệp hình ảnh chụp đề bài tạm thời chỉ được xử lý trong RAM/bộ nhớ đệm và được dọn dẹp tự động, không lưu trữ trái phép.</a:t>
            </a:r>
          </a:p>
        </p:txBody>
      </p:sp>
      <p:sp>
        <p:nvSpPr>
          <p:cNvPr id="9" name="Rounded Rectangle 8"/>
          <p:cNvSpPr/>
          <p:nvPr/>
        </p:nvSpPr>
        <p:spPr>
          <a:xfrm>
            <a:off x="731520" y="3840480"/>
            <a:ext cx="521208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023360"/>
            <a:ext cx="4754880" cy="1828800"/>
          </a:xfrm>
          <a:prstGeom prst="rect">
            <a:avLst/>
          </a:prstGeom>
          <a:noFill/>
        </p:spPr>
        <p:txBody>
          <a:bodyPr wrap="square">
            <a:spAutoFit/>
          </a:bodyPr>
          <a:lstStyle/>
          <a:p>
            <a:pPr>
              <a:defRPr sz="1300" b="1">
                <a:solidFill>
                  <a:srgbClr val="1E3A8A"/>
                </a:solidFill>
              </a:defRPr>
            </a:pPr>
            <a:r>
              <a:t>🛡️ Tuyệt đối Không Quảng cáo hay Thương mại hóa</a:t>
            </a:r>
          </a:p>
          <a:p>
            <a:pPr>
              <a:spcBef>
                <a:spcPts val="800"/>
              </a:spcBef>
              <a:defRPr sz="1100">
                <a:solidFill>
                  <a:srgbClr val="0F172A"/>
                </a:solidFill>
              </a:defRPr>
            </a:pPr>
            <a:r>
              <a:t>Môi trường học tập thuần khiết, an toàn tuyệt đối cho lứa tuổi học sinh THCS, không chèn banner quảng cáo hay liên kết ngoài.</a:t>
            </a:r>
          </a:p>
        </p:txBody>
      </p:sp>
      <p:sp>
        <p:nvSpPr>
          <p:cNvPr id="11" name="Rounded Rectangle 10"/>
          <p:cNvSpPr/>
          <p:nvPr/>
        </p:nvSpPr>
        <p:spPr>
          <a:xfrm>
            <a:off x="6217920" y="3840480"/>
            <a:ext cx="521208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023360"/>
            <a:ext cx="4754880" cy="1828800"/>
          </a:xfrm>
          <a:prstGeom prst="rect">
            <a:avLst/>
          </a:prstGeom>
          <a:noFill/>
        </p:spPr>
        <p:txBody>
          <a:bodyPr wrap="square">
            <a:spAutoFit/>
          </a:bodyPr>
          <a:lstStyle/>
          <a:p>
            <a:pPr>
              <a:defRPr sz="1300" b="1">
                <a:solidFill>
                  <a:srgbClr val="1E3A8A"/>
                </a:solidFill>
              </a:defRPr>
            </a:pPr>
            <a:r>
              <a:t>📜 Prompt Log Minh bạch &amp; Liêm chính Khoa học</a:t>
            </a:r>
          </a:p>
          <a:p>
            <a:pPr>
              <a:spcBef>
                <a:spcPts val="800"/>
              </a:spcBef>
              <a:defRPr sz="1100">
                <a:solidFill>
                  <a:srgbClr val="0F172A"/>
                </a:solidFill>
              </a:defRPr>
            </a:pPr>
            <a:r>
              <a:t>Toàn bộ câu lệnh System Prompt và nhật ký cải tiến qua các phiên bản đều được lưu trữ minh bạch, không gian lận.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10698480" cy="320040"/>
          </a:xfrm>
          <a:prstGeom prst="rect">
            <a:avLst/>
          </a:prstGeom>
          <a:noFill/>
        </p:spPr>
        <p:txBody>
          <a:bodyPr wrap="square">
            <a:spAutoFit/>
          </a:bodyPr>
          <a:lstStyle/>
          <a:p>
            <a:pPr>
              <a:defRPr sz="1000" b="1">
                <a:solidFill>
                  <a:srgbClr val="0891B2"/>
                </a:solidFill>
              </a:defRPr>
            </a:pPr>
            <a:r>
              <a:t>DỰ ÁN SOCRATES NHÍ 💡 | BẢNG A - CUỘC THI SÁNG TẠO TRẺ QUỐC GIA AI 2026</a:t>
            </a:r>
          </a:p>
        </p:txBody>
      </p:sp>
      <p:sp>
        <p:nvSpPr>
          <p:cNvPr id="4" name="TextBox 3"/>
          <p:cNvSpPr txBox="1"/>
          <p:nvPr/>
        </p:nvSpPr>
        <p:spPr>
          <a:xfrm>
            <a:off x="731520" y="548640"/>
            <a:ext cx="10698480" cy="640080"/>
          </a:xfrm>
          <a:prstGeom prst="rect">
            <a:avLst/>
          </a:prstGeom>
          <a:noFill/>
        </p:spPr>
        <p:txBody>
          <a:bodyPr wrap="square">
            <a:spAutoFit/>
          </a:bodyPr>
          <a:lstStyle/>
          <a:p>
            <a:pPr>
              <a:defRPr sz="2200" b="1">
                <a:solidFill>
                  <a:srgbClr val="0F172A"/>
                </a:solidFill>
              </a:defRPr>
            </a:pPr>
            <a:r>
              <a:t>7. Hạn chế hiện tại &amp; Lộ trình Phát triển Tương lai</a:t>
            </a:r>
          </a:p>
        </p:txBody>
      </p:sp>
      <p:sp>
        <p:nvSpPr>
          <p:cNvPr id="5" name="Rounded Rectangle 4"/>
          <p:cNvSpPr/>
          <p:nvPr/>
        </p:nvSpPr>
        <p:spPr>
          <a:xfrm>
            <a:off x="731520" y="1371600"/>
            <a:ext cx="521208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54480"/>
            <a:ext cx="4663440" cy="4572000"/>
          </a:xfrm>
          <a:prstGeom prst="rect">
            <a:avLst/>
          </a:prstGeom>
          <a:noFill/>
        </p:spPr>
        <p:txBody>
          <a:bodyPr wrap="square">
            <a:spAutoFit/>
          </a:bodyPr>
          <a:lstStyle/>
          <a:p>
            <a:pPr>
              <a:defRPr sz="1400" b="1">
                <a:solidFill>
                  <a:srgbClr val="B45309"/>
                </a:solidFill>
              </a:defRPr>
            </a:pPr>
            <a:r>
              <a:t>⚠️ HẠN CHẾ CỦA PHIÊN BẢN MVP HIỆN TẠI</a:t>
            </a:r>
          </a:p>
          <a:p>
            <a:pPr>
              <a:spcBef>
                <a:spcPts val="1200"/>
              </a:spcBef>
              <a:defRPr sz="1150">
                <a:solidFill>
                  <a:srgbClr val="0F172A"/>
                </a:solidFill>
              </a:defRPr>
            </a:pPr>
            <a:r>
              <a:t>1. Phạm vi bài mẫu: Hiện tối ưu sâu cho 12 bài toán mẫu trọng tâm của SGK KHTN 7 (mỗi mạch 4 bài). Các bài tập nâng cao ngoài chương trình cần tiếp tục bổ sung dữ liệu khái niệm.</a:t>
            </a:r>
          </a:p>
          <a:p>
            <a:pPr>
              <a:spcBef>
                <a:spcPts val="1200"/>
              </a:spcBef>
              <a:defRPr sz="1150">
                <a:solidFill>
                  <a:srgbClr val="0F172A"/>
                </a:solidFill>
              </a:defRPr>
            </a:pPr>
            <a:r>
              <a:t>2. Nhận diện chữ viết tay: OCR Tesseract đọc chữ in sách/vở rất tốt; chữ viết tay nghiêng hoặc nhòe mực cần học sinh chỉnh sửa lại ở Bước 2.</a:t>
            </a:r>
          </a:p>
          <a:p>
            <a:pPr>
              <a:spcBef>
                <a:spcPts val="1200"/>
              </a:spcBef>
              <a:defRPr sz="1150">
                <a:solidFill>
                  <a:srgbClr val="0F172A"/>
                </a:solidFill>
              </a:defRPr>
            </a:pPr>
            <a:r>
              <a:t>3. Thu âm trong môi trường ồn: Nhận diện giọng nói hoạt động tốt trong phòng yên tĩnh; hội trường quá ồn cần sử dụng các mẫu câu có sẵn.</a:t>
            </a:r>
          </a:p>
        </p:txBody>
      </p:sp>
      <p:sp>
        <p:nvSpPr>
          <p:cNvPr id="7" name="Rounded Rectangle 6"/>
          <p:cNvSpPr/>
          <p:nvPr/>
        </p:nvSpPr>
        <p:spPr>
          <a:xfrm>
            <a:off x="6217920" y="1371600"/>
            <a:ext cx="5212080" cy="4937760"/>
          </a:xfrm>
          <a:prstGeom prst="roundRect">
            <a:avLst/>
          </a:prstGeom>
          <a:solidFill>
            <a:srgbClr val="EEF2FF"/>
          </a:solidFill>
          <a:ln w="1524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54480"/>
            <a:ext cx="4663440" cy="4572000"/>
          </a:xfrm>
          <a:prstGeom prst="rect">
            <a:avLst/>
          </a:prstGeom>
          <a:noFill/>
        </p:spPr>
        <p:txBody>
          <a:bodyPr wrap="square">
            <a:spAutoFit/>
          </a:bodyPr>
          <a:lstStyle/>
          <a:p>
            <a:pPr>
              <a:defRPr sz="1400" b="1">
                <a:solidFill>
                  <a:srgbClr val="1E3A8A"/>
                </a:solidFill>
              </a:defRPr>
            </a:pPr>
            <a:r>
              <a:t>🚀 LỘ TRÌNH MỞ RỘNG (ROADMAP 3 GIAI ĐOẠN)</a:t>
            </a:r>
          </a:p>
          <a:p>
            <a:pPr>
              <a:spcBef>
                <a:spcPts val="1000"/>
              </a:spcBef>
              <a:defRPr sz="1150" b="1">
                <a:solidFill>
                  <a:srgbClr val="2563EB"/>
                </a:solidFill>
              </a:defRPr>
            </a:pPr>
            <a:r>
              <a:t>Giai đoạn 1 (Sau Vòng Khu vực):</a:t>
            </a:r>
          </a:p>
          <a:p>
            <a:pPr>
              <a:defRPr sz="1050">
                <a:solidFill>
                  <a:srgbClr val="0F172A"/>
                </a:solidFill>
              </a:defRPr>
            </a:pPr>
            <a:r>
              <a:t>Mở rộng ngân hàng khái niệm lên trọn vẹn 35 bài học SGK KHTN 7 và phủ sóng KHTN lớp 6 &amp; lớp 8.</a:t>
            </a:r>
          </a:p>
          <a:p>
            <a:pPr>
              <a:spcBef>
                <a:spcPts val="1000"/>
              </a:spcBef>
              <a:defRPr sz="1150" b="1">
                <a:solidFill>
                  <a:srgbClr val="2563EB"/>
                </a:solidFill>
              </a:defRPr>
            </a:pPr>
            <a:r>
              <a:t>Giai đoạn 2 (Chuẩn bị Vòng Chung kết):</a:t>
            </a:r>
          </a:p>
          <a:p>
            <a:pPr>
              <a:defRPr sz="1050">
                <a:solidFill>
                  <a:srgbClr val="0F172A"/>
                </a:solidFill>
              </a:defRPr>
            </a:pPr>
            <a:r>
              <a:t>Tích hợp mô hình AI thị giác nhỏ (Small Vision Model) chạy cục bộ để phân tích sơ đồ thí nghiệm, mạch điện và đồ thị chuyển động.</a:t>
            </a:r>
          </a:p>
          <a:p>
            <a:pPr>
              <a:spcBef>
                <a:spcPts val="1000"/>
              </a:spcBef>
              <a:defRPr sz="1150" b="1">
                <a:solidFill>
                  <a:srgbClr val="2563EB"/>
                </a:solidFill>
              </a:defRPr>
            </a:pPr>
            <a:r>
              <a:t>Giai đoạn 3 (Ứng dụng diện rộng):</a:t>
            </a:r>
          </a:p>
          <a:p>
            <a:pPr>
              <a:defRPr sz="1050">
                <a:solidFill>
                  <a:srgbClr val="0F172A"/>
                </a:solidFill>
              </a:defRPr>
            </a:pPr>
            <a:r>
              <a:t>Xây dựng Cổng thông tin Giáo viên (Teacher Dashboard) để thầy cô giao bài tập tư duy và trích xuất báo cáo tiến bộ của cả lớp.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371600"/>
            <a:ext cx="9448495"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1828800"/>
            <a:ext cx="8534095" cy="3200400"/>
          </a:xfrm>
          <a:prstGeom prst="rect">
            <a:avLst/>
          </a:prstGeom>
          <a:noFill/>
        </p:spPr>
        <p:txBody>
          <a:bodyPr wrap="square">
            <a:spAutoFit/>
          </a:bodyPr>
          <a:lstStyle/>
          <a:p>
            <a:pPr algn="ctr">
              <a:defRPr sz="2100" b="1" i="1">
                <a:solidFill>
                  <a:srgbClr val="1E3A8A"/>
                </a:solidFill>
              </a:defRPr>
            </a:pPr>
            <a:r>
              <a:t>“Socrates Nhí không tạo ra những học sinh giỏi chép bài,</a:t>
            </a:r>
            <a:br/>
            <a:r>
              <a:t>mà nuôi dưỡng những bộ óc biết hoài nghi, biết suy nghĩ</a:t>
            </a:r>
            <a:br/>
            <a:r>
              <a:t>và tự mình khám phá chân lý khoa học.”</a:t>
            </a:r>
          </a:p>
          <a:p>
            <a:br/>
            <a:pPr algn="ctr">
              <a:defRPr sz="1600" b="1">
                <a:solidFill>
                  <a:srgbClr val="2563EB"/>
                </a:solidFill>
              </a:defRPr>
            </a:pPr>
            <a:r>
              <a:t>CHÂN THÀNH CẢM ƠN QUÝ BAN GIÁM KHẢO VÀ QUÝ THẦY CÔ ĐÃ LẮNG NGHE! 💐</a:t>
            </a:r>
          </a:p>
          <a:p>
            <a:pPr algn="ctr">
              <a:defRPr sz="1300">
                <a:solidFill>
                  <a:srgbClr val="64748B"/>
                </a:solidFill>
              </a:defRPr>
            </a:pPr>
            <a:r>
              <a:t>Nhóm tác giả sẵn sàng lắng nghe câu hỏi và giải trình phản biện từ Hội đồng Giám khảo.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